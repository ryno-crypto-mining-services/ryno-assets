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MiSans" charset="-122" pitchFamily="34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3.png"/><Relationship Id="rId6" Type="http://schemas.openxmlformats.org/officeDocument/2006/relationships/image" Target="../media/image-2-3.png"/><Relationship Id="rId7" Type="http://schemas.openxmlformats.org/officeDocument/2006/relationships/image" Target="../media/image-2-3.png"/><Relationship Id="rId8" Type="http://schemas.openxmlformats.org/officeDocument/2006/relationships/image" Target="../media/image-2-3.png"/><Relationship Id="rId9" Type="http://schemas.openxmlformats.org/officeDocument/2006/relationships/image" Target="../media/image-2-9.png"/><Relationship Id="rId10" Type="http://schemas.openxmlformats.org/officeDocument/2006/relationships/image" Target="../media/image-2-9.png"/><Relationship Id="rId11" Type="http://schemas.openxmlformats.org/officeDocument/2006/relationships/image" Target="../media/image-2-9.png"/><Relationship Id="rId12" Type="http://schemas.openxmlformats.org/officeDocument/2006/relationships/image" Target="../media/image-2-9.png"/><Relationship Id="rId13" Type="http://schemas.openxmlformats.org/officeDocument/2006/relationships/image" Target="../media/image-2-9.png"/><Relationship Id="rId14" Type="http://schemas.openxmlformats.org/officeDocument/2006/relationships/image" Target="../media/image-2-9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image" Target="../media/image-14-5.png"/><Relationship Id="rId6" Type="http://schemas.openxmlformats.org/officeDocument/2006/relationships/image" Target="../media/image-14-5.png"/><Relationship Id="rId7" Type="http://schemas.openxmlformats.org/officeDocument/2006/relationships/image" Target="../media/image-14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7-3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8-1.jpg"/><Relationship Id="rId3" Type="http://schemas.openxmlformats.org/officeDocument/2006/relationships/image" Target="../media/image-20-3.png"/><Relationship Id="rId4" Type="http://schemas.openxmlformats.org/officeDocument/2006/relationships/image" Target="../media/image-2-2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1-d2r9b89e3tpg8rchv2q0.png">    </p:cNvPr>
          <p:cNvPicPr>
            <a:picLocks noChangeAspect="1"/>
          </p:cNvPicPr>
          <p:nvPr/>
        </p:nvPicPr>
        <p:blipFill>
          <a:blip r:embed="rId1"/>
          <a:srcRect l="0" r="0" t="16" b="16"/>
          <a:stretch/>
        </p:blipFill>
        <p:spPr>
          <a:xfrm>
            <a:off x="0" y="0"/>
            <a:ext cx="12191999" cy="68646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630" y="1667510"/>
            <a:ext cx="10962640" cy="2275205"/>
          </a:xfrm>
          <a:prstGeom prst="roundRect">
            <a:avLst>
              <a:gd name="adj" fmla="val 16667"/>
            </a:avLst>
          </a:prstGeom>
          <a:solidFill>
            <a:srgbClr val="000000">
              <a:alpha val="6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22630" y="1667510"/>
            <a:ext cx="10962640" cy="22752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17295" y="2216785"/>
            <a:ext cx="10283190" cy="2274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TerraHash Retrofit: Mine Smarter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978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86741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955675" y="616648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4394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113157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350074" y="6063614"/>
            <a:ext cx="1512214" cy="241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pic>
        <p:nvPicPr>
          <p:cNvPr id="20" name="Image 1" descr="https://kimi-img.moonshot.cn/pub/slides/25-11-30-08:04:15-d4lojvt7vds4jngt9k2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50" y="3949341"/>
            <a:ext cx="2915285" cy="2915285"/>
          </a:xfrm>
          <a:prstGeom prst="rect">
            <a:avLst/>
          </a:prstGeom>
        </p:spPr>
      </p:pic>
      <p:pic>
        <p:nvPicPr>
          <p:cNvPr id="21" name="Image 2" descr="https://kimi-img.moonshot.cn/pub/slides/25-11-30-08:05:48-d4lokn7hq49gqo0d5fu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373" y="3949341"/>
            <a:ext cx="2915285" cy="291528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3-d2r9b8pe3tpg8rchv2tg.jpg">    </p:cNvPr>
          <p:cNvPicPr>
            <a:picLocks noChangeAspect="1"/>
          </p:cNvPicPr>
          <p:nvPr/>
        </p:nvPicPr>
        <p:blipFill>
          <a:blip r:embed="rId1"/>
          <a:srcRect l="0" r="0" t="18" b="18"/>
          <a:stretch/>
        </p:blipFill>
        <p:spPr>
          <a:xfrm>
            <a:off x="-11363" y="0"/>
            <a:ext cx="12203363" cy="687102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42-d2r9b8he3tpg8rchv2qg.jpg">    </p:cNvPr>
          <p:cNvPicPr>
            <a:picLocks noChangeAspect="1"/>
          </p:cNvPicPr>
          <p:nvPr/>
        </p:nvPicPr>
        <p:blipFill>
          <a:blip r:embed="rId2">
            <a:alphaModFix amt="54000"/>
          </a:blip>
          <a:stretch>
            <a:fillRect/>
          </a:stretch>
        </p:blipFill>
        <p:spPr>
          <a:xfrm>
            <a:off x="923290" y="1731010"/>
            <a:ext cx="19050" cy="33909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63600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1"/>
          <p:cNvSpPr/>
          <p:nvPr/>
        </p:nvSpPr>
        <p:spPr>
          <a:xfrm>
            <a:off x="951230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1039495" y="607250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1127125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215390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9" name="Image 2" descr="https://kimi-img.moonshot.cn/pub/slides/slides_tmpl/image/25-09-02-14:58:42-d2r9b8he3tpg8rchv2s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915" y="1706245"/>
            <a:ext cx="2721610" cy="220218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2-14:58:42-d2r9b8he3tpg8rchv2s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775" y="1706245"/>
            <a:ext cx="2721610" cy="220218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2-14:58:42-d2r9b8he3tpg8rchv2s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040" y="1706245"/>
            <a:ext cx="2721610" cy="2201545"/>
          </a:xfrm>
          <a:prstGeom prst="rect">
            <a:avLst/>
          </a:prstGeom>
        </p:spPr>
      </p:pic>
      <p:pic>
        <p:nvPicPr>
          <p:cNvPr id="12" name="Image 5" descr="https://kimi-img.moonshot.cn/pub/slides/slides_tmpl/image/25-09-02-14:58:42-d2r9b8he3tpg8rchv2s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7915" y="3719830"/>
            <a:ext cx="2721610" cy="2202180"/>
          </a:xfrm>
          <a:prstGeom prst="rect">
            <a:avLst/>
          </a:prstGeom>
        </p:spPr>
      </p:pic>
      <p:pic>
        <p:nvPicPr>
          <p:cNvPr id="13" name="Image 6" descr="https://kimi-img.moonshot.cn/pub/slides/slides_tmpl/image/25-09-02-14:58:42-d2r9b8he3tpg8rchv2s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1775" y="3719830"/>
            <a:ext cx="2721610" cy="2202180"/>
          </a:xfrm>
          <a:prstGeom prst="rect">
            <a:avLst/>
          </a:prstGeom>
        </p:spPr>
      </p:pic>
      <p:pic>
        <p:nvPicPr>
          <p:cNvPr id="14" name="Image 7" descr="https://kimi-img.moonshot.cn/pub/slides/slides_tmpl/image/25-09-02-14:58:42-d2r9b8he3tpg8rchv2s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040" y="3719830"/>
            <a:ext cx="2721610" cy="2201545"/>
          </a:xfrm>
          <a:prstGeom prst="rect">
            <a:avLst/>
          </a:prstGeom>
        </p:spPr>
      </p:pic>
      <p:pic>
        <p:nvPicPr>
          <p:cNvPr id="15" name="Image 8" descr="https://kimi-img.moonshot.cn/pub/slides/slides_tmpl/image/25-09-02-14:58:42-d2r9b8he3tpg8rchv2r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0470" y="1706245"/>
            <a:ext cx="1969135" cy="97155"/>
          </a:xfrm>
          <a:prstGeom prst="rect">
            <a:avLst/>
          </a:prstGeom>
        </p:spPr>
      </p:pic>
      <p:pic>
        <p:nvPicPr>
          <p:cNvPr id="16" name="Image 9" descr="https://kimi-img.moonshot.cn/pub/slides/slides_tmpl/image/25-09-02-14:58:42-d2r9b8he3tpg8rchv2r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8140" y="1706245"/>
            <a:ext cx="1969135" cy="97155"/>
          </a:xfrm>
          <a:prstGeom prst="rect">
            <a:avLst/>
          </a:prstGeom>
        </p:spPr>
      </p:pic>
      <p:pic>
        <p:nvPicPr>
          <p:cNvPr id="17" name="Image 10" descr="https://kimi-img.moonshot.cn/pub/slides/slides_tmpl/image/25-09-02-14:58:42-d2r9b8he3tpg8rchv2r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3880" y="1706245"/>
            <a:ext cx="1969135" cy="97155"/>
          </a:xfrm>
          <a:prstGeom prst="rect">
            <a:avLst/>
          </a:prstGeom>
        </p:spPr>
      </p:pic>
      <p:pic>
        <p:nvPicPr>
          <p:cNvPr id="18" name="Image 11" descr="https://kimi-img.moonshot.cn/pub/slides/slides_tmpl/image/25-09-02-14:58:42-d2r9b8he3tpg8rchv2r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0470" y="3719830"/>
            <a:ext cx="1969135" cy="97155"/>
          </a:xfrm>
          <a:prstGeom prst="rect">
            <a:avLst/>
          </a:prstGeom>
        </p:spPr>
      </p:pic>
      <p:pic>
        <p:nvPicPr>
          <p:cNvPr id="19" name="Image 12" descr="https://kimi-img.moonshot.cn/pub/slides/slides_tmpl/image/25-09-02-14:58:42-d2r9b8he3tpg8rchv2r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38140" y="3719830"/>
            <a:ext cx="1969135" cy="97155"/>
          </a:xfrm>
          <a:prstGeom prst="rect">
            <a:avLst/>
          </a:prstGeom>
        </p:spPr>
      </p:pic>
      <p:pic>
        <p:nvPicPr>
          <p:cNvPr id="20" name="Image 13" descr="https://kimi-img.moonshot.cn/pub/slides/slides_tmpl/image/25-09-02-14:58:42-d2r9b8he3tpg8rchv2rg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3880" y="3719830"/>
            <a:ext cx="1969135" cy="97155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795704" y="723889"/>
            <a:ext cx="2639059" cy="425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22" name="Shape 6"/>
          <p:cNvSpPr/>
          <p:nvPr/>
        </p:nvSpPr>
        <p:spPr>
          <a:xfrm>
            <a:off x="3073400" y="1906270"/>
            <a:ext cx="834390" cy="69088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Text 7"/>
          <p:cNvSpPr/>
          <p:nvPr/>
        </p:nvSpPr>
        <p:spPr>
          <a:xfrm>
            <a:off x="3073400" y="1906270"/>
            <a:ext cx="83439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8"/>
          <p:cNvSpPr/>
          <p:nvPr/>
        </p:nvSpPr>
        <p:spPr>
          <a:xfrm>
            <a:off x="2452370" y="2576830"/>
            <a:ext cx="2500630" cy="69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Crisis &amp; The Cure</a:t>
            </a:r>
            <a:endParaRPr lang="en-US" sz="1600" dirty="0"/>
          </a:p>
        </p:txBody>
      </p:sp>
      <p:sp>
        <p:nvSpPr>
          <p:cNvPr id="25" name="Shape 9"/>
          <p:cNvSpPr/>
          <p:nvPr/>
        </p:nvSpPr>
        <p:spPr>
          <a:xfrm>
            <a:off x="6035040" y="1911985"/>
            <a:ext cx="834390" cy="691515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Text 10"/>
          <p:cNvSpPr/>
          <p:nvPr/>
        </p:nvSpPr>
        <p:spPr>
          <a:xfrm>
            <a:off x="6035040" y="1911985"/>
            <a:ext cx="834390" cy="691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11"/>
          <p:cNvSpPr/>
          <p:nvPr/>
        </p:nvSpPr>
        <p:spPr>
          <a:xfrm>
            <a:off x="5361940" y="2576830"/>
            <a:ext cx="250063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Tech Deep Dive</a:t>
            </a:r>
            <a:endParaRPr lang="en-US" sz="1600" dirty="0"/>
          </a:p>
        </p:txBody>
      </p:sp>
      <p:sp>
        <p:nvSpPr>
          <p:cNvPr id="28" name="Shape 12"/>
          <p:cNvSpPr/>
          <p:nvPr/>
        </p:nvSpPr>
        <p:spPr>
          <a:xfrm>
            <a:off x="8758555" y="1906270"/>
            <a:ext cx="834390" cy="691515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Text 13"/>
          <p:cNvSpPr/>
          <p:nvPr/>
        </p:nvSpPr>
        <p:spPr>
          <a:xfrm>
            <a:off x="8758555" y="1906270"/>
            <a:ext cx="834390" cy="691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14"/>
          <p:cNvSpPr/>
          <p:nvPr/>
        </p:nvSpPr>
        <p:spPr>
          <a:xfrm>
            <a:off x="8117205" y="2576830"/>
            <a:ext cx="250063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Hard Numbers</a:t>
            </a:r>
            <a:endParaRPr lang="en-US" sz="1600" dirty="0"/>
          </a:p>
        </p:txBody>
      </p:sp>
      <p:sp>
        <p:nvSpPr>
          <p:cNvPr id="31" name="Shape 15"/>
          <p:cNvSpPr/>
          <p:nvPr/>
        </p:nvSpPr>
        <p:spPr>
          <a:xfrm>
            <a:off x="3073400" y="3919855"/>
            <a:ext cx="834390" cy="69723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Text 16"/>
          <p:cNvSpPr/>
          <p:nvPr/>
        </p:nvSpPr>
        <p:spPr>
          <a:xfrm>
            <a:off x="3073400" y="3919855"/>
            <a:ext cx="83439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17"/>
          <p:cNvSpPr/>
          <p:nvPr/>
        </p:nvSpPr>
        <p:spPr>
          <a:xfrm>
            <a:off x="2452370" y="4609465"/>
            <a:ext cx="2500630" cy="697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 Choices</a:t>
            </a:r>
            <a:endParaRPr lang="en-US" sz="1600" dirty="0"/>
          </a:p>
        </p:txBody>
      </p:sp>
      <p:sp>
        <p:nvSpPr>
          <p:cNvPr id="34" name="Shape 18"/>
          <p:cNvSpPr/>
          <p:nvPr/>
        </p:nvSpPr>
        <p:spPr>
          <a:xfrm>
            <a:off x="6035040" y="3925570"/>
            <a:ext cx="834390" cy="691515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35" name="Text 19"/>
          <p:cNvSpPr/>
          <p:nvPr/>
        </p:nvSpPr>
        <p:spPr>
          <a:xfrm>
            <a:off x="6035040" y="3925570"/>
            <a:ext cx="834390" cy="691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20"/>
          <p:cNvSpPr/>
          <p:nvPr/>
        </p:nvSpPr>
        <p:spPr>
          <a:xfrm>
            <a:off x="5361940" y="4609465"/>
            <a:ext cx="250063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Partner Proof</a:t>
            </a:r>
            <a:endParaRPr lang="en-US" sz="1600" dirty="0"/>
          </a:p>
        </p:txBody>
      </p:sp>
      <p:sp>
        <p:nvSpPr>
          <p:cNvPr id="37" name="Shape 21"/>
          <p:cNvSpPr/>
          <p:nvPr/>
        </p:nvSpPr>
        <p:spPr>
          <a:xfrm>
            <a:off x="8758555" y="3919855"/>
            <a:ext cx="834390" cy="691515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38" name="Text 22"/>
          <p:cNvSpPr/>
          <p:nvPr/>
        </p:nvSpPr>
        <p:spPr>
          <a:xfrm>
            <a:off x="8758555" y="3919855"/>
            <a:ext cx="834390" cy="691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23"/>
          <p:cNvSpPr/>
          <p:nvPr/>
        </p:nvSpPr>
        <p:spPr>
          <a:xfrm>
            <a:off x="8177530" y="4418013"/>
            <a:ext cx="250063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Q&amp;A</a:t>
            </a:r>
            <a:endParaRPr lang="en-US" sz="1600" dirty="0"/>
          </a:p>
        </p:txBody>
      </p:sp>
      <p:pic>
        <p:nvPicPr>
          <p:cNvPr id="40" name="Image 14" descr="https://kimi-img.moonshot.cn/pub/slides/25-11-30-08:08:51-d4lom4q23rd0fah5d07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85755" y="0"/>
            <a:ext cx="1706245" cy="170624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8-d2r9ba1e3tpg8rchv35g.jpg">    </p:cNvPr>
          <p:cNvPicPr>
            <a:picLocks noChangeAspect="1"/>
          </p:cNvPicPr>
          <p:nvPr/>
        </p:nvPicPr>
        <p:blipFill>
          <a:blip r:embed="rId1"/>
          <a:srcRect l="6932" r="28768" t="33896" b="8951"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4985" y="3718560"/>
            <a:ext cx="9302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Crisis &amp; The Cure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26941" dir="27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1-d2r9bape3tpg8rchv360.jpg">    </p:cNvPr>
          <p:cNvPicPr>
            <a:picLocks noChangeAspect="1"/>
          </p:cNvPicPr>
          <p:nvPr/>
        </p:nvPicPr>
        <p:blipFill>
          <a:blip r:embed="rId1"/>
          <a:srcRect l="0" r="0" t="17" b="17"/>
          <a:stretch/>
        </p:blipFill>
        <p:spPr>
          <a:xfrm>
            <a:off x="-3179" y="-1"/>
            <a:ext cx="12194137" cy="6865829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75" y="2049780"/>
            <a:ext cx="2708910" cy="413702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390" y="2049780"/>
            <a:ext cx="2708910" cy="413702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565" y="2049780"/>
            <a:ext cx="2708910" cy="4137025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" y="2049780"/>
            <a:ext cx="2708910" cy="4137025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0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" name="Text 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430530" y="359189"/>
            <a:ext cx="7910972" cy="1245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Air-Cooled Mining Is Bleeding Margin</a:t>
            </a:r>
            <a:endParaRPr lang="en-US" sz="1600" dirty="0"/>
          </a:p>
        </p:txBody>
      </p:sp>
      <p:pic>
        <p:nvPicPr>
          <p:cNvPr id="16" name="Image 5" descr="https://kimi-img.moonshot.cn/pub/slides/slides_tmpl/image/25-09-02-14:58:58-d2r9bche3tpg8rchv3o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0353" y="1743710"/>
            <a:ext cx="637540" cy="619125"/>
          </a:xfrm>
          <a:prstGeom prst="rect">
            <a:avLst/>
          </a:prstGeom>
        </p:spPr>
      </p:pic>
      <p:pic>
        <p:nvPicPr>
          <p:cNvPr id="17" name="Image 6" descr="https://kimi-img.moonshot.cn/pub/slides/slides_tmpl/image/25-09-02-14:58:58-d2r9bche3tpg8rchv3o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0388" y="1743710"/>
            <a:ext cx="637540" cy="619125"/>
          </a:xfrm>
          <a:prstGeom prst="rect">
            <a:avLst/>
          </a:prstGeom>
        </p:spPr>
      </p:pic>
      <p:pic>
        <p:nvPicPr>
          <p:cNvPr id="18" name="Image 7" descr="https://kimi-img.moonshot.cn/pub/slides/slides_tmpl/image/25-09-02-14:58:58-d2r9bche3tpg8rchv3o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1213" y="1743710"/>
            <a:ext cx="637540" cy="619125"/>
          </a:xfrm>
          <a:prstGeom prst="rect">
            <a:avLst/>
          </a:prstGeom>
        </p:spPr>
      </p:pic>
      <p:pic>
        <p:nvPicPr>
          <p:cNvPr id="19" name="Image 8" descr="https://kimi-img.moonshot.cn/pub/slides/slides_tmpl/image/25-09-02-14:58:58-d2r9bche3tpg8rchv3o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7598" y="1743710"/>
            <a:ext cx="637540" cy="619125"/>
          </a:xfrm>
          <a:prstGeom prst="rect">
            <a:avLst/>
          </a:prstGeom>
        </p:spPr>
      </p:pic>
      <p:sp>
        <p:nvSpPr>
          <p:cNvPr id="20" name="Shape 9"/>
          <p:cNvSpPr/>
          <p:nvPr/>
        </p:nvSpPr>
        <p:spPr>
          <a:xfrm>
            <a:off x="1632585" y="1845945"/>
            <a:ext cx="473075" cy="3981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Text 10"/>
          <p:cNvSpPr/>
          <p:nvPr/>
        </p:nvSpPr>
        <p:spPr>
          <a:xfrm>
            <a:off x="1632585" y="1845945"/>
            <a:ext cx="473075" cy="39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11"/>
          <p:cNvSpPr/>
          <p:nvPr/>
        </p:nvSpPr>
        <p:spPr>
          <a:xfrm>
            <a:off x="820834" y="2505307"/>
            <a:ext cx="208724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Capacity Utilization</a:t>
            </a:r>
            <a:endParaRPr lang="en-US" sz="1600" dirty="0"/>
          </a:p>
        </p:txBody>
      </p:sp>
      <p:sp>
        <p:nvSpPr>
          <p:cNvPr id="23" name="Text 12"/>
          <p:cNvSpPr/>
          <p:nvPr/>
        </p:nvSpPr>
        <p:spPr>
          <a:xfrm>
            <a:off x="430530" y="3077651"/>
            <a:ext cx="2708910" cy="31091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Legacy air-cooled mining operations struggle with only 67-70% capacity utilization, leading to significant revenue loss. Retrofitting with TerraHash Stack can transform this underperformance into high-efficiency operations.</a:t>
            </a:r>
            <a:endParaRPr lang="en-US" sz="1600" dirty="0"/>
          </a:p>
        </p:txBody>
      </p:sp>
      <p:sp>
        <p:nvSpPr>
          <p:cNvPr id="24" name="Shape 13"/>
          <p:cNvSpPr/>
          <p:nvPr/>
        </p:nvSpPr>
        <p:spPr>
          <a:xfrm>
            <a:off x="4452620" y="1845945"/>
            <a:ext cx="473075" cy="3981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Text 14"/>
          <p:cNvSpPr/>
          <p:nvPr/>
        </p:nvSpPr>
        <p:spPr>
          <a:xfrm>
            <a:off x="4452620" y="1845945"/>
            <a:ext cx="473075" cy="39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15"/>
          <p:cNvSpPr/>
          <p:nvPr/>
        </p:nvSpPr>
        <p:spPr>
          <a:xfrm>
            <a:off x="3657774" y="2505307"/>
            <a:ext cx="208724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Seasonal Revenue Loss</a:t>
            </a:r>
            <a:endParaRPr lang="en-US" sz="1600" dirty="0"/>
          </a:p>
        </p:txBody>
      </p:sp>
      <p:sp>
        <p:nvSpPr>
          <p:cNvPr id="27" name="Text 16"/>
          <p:cNvSpPr/>
          <p:nvPr/>
        </p:nvSpPr>
        <p:spPr>
          <a:xfrm>
            <a:off x="3250565" y="3086332"/>
            <a:ext cx="2708910" cy="31004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 hot climates, traditional mining faces 15-20% seasonal revenue loss due to poor thermal management. TerraHash Stack’s advanced cooling technology eliminates this issue, ensuring consistent performance year-round.</a:t>
            </a:r>
            <a:endParaRPr lang="en-US" sz="1600" dirty="0"/>
          </a:p>
        </p:txBody>
      </p:sp>
      <p:sp>
        <p:nvSpPr>
          <p:cNvPr id="28" name="Shape 17"/>
          <p:cNvSpPr/>
          <p:nvPr/>
        </p:nvSpPr>
        <p:spPr>
          <a:xfrm>
            <a:off x="7243445" y="1845945"/>
            <a:ext cx="473075" cy="3981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Text 18"/>
          <p:cNvSpPr/>
          <p:nvPr/>
        </p:nvSpPr>
        <p:spPr>
          <a:xfrm>
            <a:off x="7243445" y="1845945"/>
            <a:ext cx="473075" cy="39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19"/>
          <p:cNvSpPr/>
          <p:nvPr/>
        </p:nvSpPr>
        <p:spPr>
          <a:xfrm>
            <a:off x="6451614" y="2505307"/>
            <a:ext cx="208724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Downtime Costs</a:t>
            </a:r>
            <a:endParaRPr lang="en-US" sz="1600" dirty="0"/>
          </a:p>
        </p:txBody>
      </p:sp>
      <p:sp>
        <p:nvSpPr>
          <p:cNvPr id="31" name="Text 20"/>
          <p:cNvSpPr/>
          <p:nvPr/>
        </p:nvSpPr>
        <p:spPr>
          <a:xfrm>
            <a:off x="6041390" y="3077651"/>
            <a:ext cx="2708910" cy="31091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Unplanned downtime costs $50,000-$200,000 per megawatt per incident. TerraHash Stack’s 99%+ uptime guarantee mitigates these costly interruptions, safeguarding your mining operation’s profitability.</a:t>
            </a:r>
            <a:endParaRPr lang="en-US" sz="1600" dirty="0"/>
          </a:p>
        </p:txBody>
      </p:sp>
      <p:sp>
        <p:nvSpPr>
          <p:cNvPr id="32" name="Shape 21"/>
          <p:cNvSpPr/>
          <p:nvPr/>
        </p:nvSpPr>
        <p:spPr>
          <a:xfrm>
            <a:off x="10069830" y="1845945"/>
            <a:ext cx="473075" cy="3981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Text 22"/>
          <p:cNvSpPr/>
          <p:nvPr/>
        </p:nvSpPr>
        <p:spPr>
          <a:xfrm>
            <a:off x="10069830" y="1845945"/>
            <a:ext cx="473075" cy="39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23"/>
          <p:cNvSpPr/>
          <p:nvPr/>
        </p:nvSpPr>
        <p:spPr>
          <a:xfrm>
            <a:off x="9250287" y="2505307"/>
            <a:ext cx="208724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ASIC Lifespan</a:t>
            </a:r>
            <a:endParaRPr lang="en-US" sz="1600" dirty="0"/>
          </a:p>
        </p:txBody>
      </p:sp>
      <p:sp>
        <p:nvSpPr>
          <p:cNvPr id="35" name="Text 24"/>
          <p:cNvSpPr/>
          <p:nvPr/>
        </p:nvSpPr>
        <p:spPr>
          <a:xfrm>
            <a:off x="8867775" y="3077651"/>
            <a:ext cx="2708910" cy="31091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Constant thermal stress shortens ASIC lifespan from 50+ months to just 30-36 months. TerraHash Stack extends equipment life by 40%, reducing costly hardware replacements.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2-d2r9bb1e3tpg8rchv390.jpg">    </p:cNvPr>
          <p:cNvPicPr>
            <a:picLocks noChangeAspect="1"/>
          </p:cNvPicPr>
          <p:nvPr/>
        </p:nvPicPr>
        <p:blipFill>
          <a:blip r:embed="rId1"/>
          <a:srcRect l="0" r="0" t="236" b="236"/>
          <a:stretch/>
        </p:blipFill>
        <p:spPr>
          <a:xfrm>
            <a:off x="-53340" y="0"/>
            <a:ext cx="12245340" cy="686435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55-d2r9bbpe3tpg8rchv3ig.png">    </p:cNvPr>
          <p:cNvPicPr>
            <a:picLocks noChangeAspect="1"/>
          </p:cNvPicPr>
          <p:nvPr/>
        </p:nvPicPr>
        <p:blipFill>
          <a:blip r:embed="rId2"/>
          <a:srcRect l="7315" r="7315" t="0" b="0"/>
          <a:stretch/>
        </p:blipFill>
        <p:spPr>
          <a:xfrm>
            <a:off x="-53975" y="0"/>
            <a:ext cx="93452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34263" y="427828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 flipH="1">
            <a:off x="11314843" y="930413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2"/>
          <p:cNvSpPr/>
          <p:nvPr/>
        </p:nvSpPr>
        <p:spPr>
          <a:xfrm>
            <a:off x="11314843" y="930413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 flipH="1">
            <a:off x="11186668" y="93041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11186668" y="930413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 flipH="1">
            <a:off x="11055654" y="930413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11055654" y="930413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 flipH="1">
            <a:off x="10924640" y="93041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0924640" y="930413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2290" y="774065"/>
            <a:ext cx="10490835" cy="83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TerraHash Stack in One Glance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50105" y="2054225"/>
            <a:ext cx="59093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Integrated Retrofit Solution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375785" y="2339340"/>
            <a:ext cx="6936740" cy="9602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TerraHash Stack is a comprehensive retrofit solution that transforms legacy mining infrastructure into a high-efficiency, AI-powered profit center with industry-leading performance improvements.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46625" y="4286885"/>
            <a:ext cx="59093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Technology Pillars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375785" y="4551680"/>
            <a:ext cx="6936740" cy="9602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integrates four core technologies: Chilldyne liquid cooling, BraiinsOS+ firmware, AI-powered operations, and automated treasury management, delivering rapid ROI and guaranteed uptime.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8-d2r9ba1e3tpg8rchv35g.jpg">    </p:cNvPr>
          <p:cNvPicPr>
            <a:picLocks noChangeAspect="1"/>
          </p:cNvPicPr>
          <p:nvPr/>
        </p:nvPicPr>
        <p:blipFill>
          <a:blip r:embed="rId1"/>
          <a:srcRect l="6932" r="28768" t="33896" b="8951"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4985" y="3718560"/>
            <a:ext cx="9302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Tech Deep Dive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26941" dir="27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7-d2r9bc9e3tpg8rchv3mg.jpeg">    </p:cNvPr>
          <p:cNvPicPr>
            <a:picLocks noChangeAspect="1"/>
          </p:cNvPicPr>
          <p:nvPr/>
        </p:nvPicPr>
        <p:blipFill>
          <a:blip r:embed="rId1"/>
          <a:srcRect l="53460" r="2189" t="863" b="55034"/>
          <a:stretch/>
        </p:blipFill>
        <p:spPr>
          <a:xfrm flipH="1">
            <a:off x="-15810" y="0"/>
            <a:ext cx="12218079" cy="687931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54-d2r9bbhe3tpg8rchv3f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75" y="2184400"/>
            <a:ext cx="12192000" cy="83693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2290" y="998220"/>
            <a:ext cx="9869805" cy="83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Chilldyne Cooling: Hash More, Leak Never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H="1">
            <a:off x="1573530" y="75882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1573530" y="75882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 flipH="1">
            <a:off x="1445260" y="75882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445260" y="75882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flipH="1">
            <a:off x="1313815" y="75882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1313815" y="75882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 flipH="1">
            <a:off x="1183005" y="75882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183005" y="75882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2" descr="https://kimi-img.moonshot.cn/pub/slides/slides_tmpl/image/25-09-02-14:58:52-d2r9bb1e3tpg8rchv3bg.png">    </p:cNvPr>
          <p:cNvPicPr>
            <a:picLocks noChangeAspect="1"/>
          </p:cNvPicPr>
          <p:nvPr/>
        </p:nvPicPr>
        <p:blipFill>
          <a:blip r:embed="rId3"/>
          <a:srcRect l="0" r="0" t="357" b="357"/>
          <a:stretch/>
        </p:blipFill>
        <p:spPr>
          <a:xfrm flipH="1" flipV="1">
            <a:off x="662940" y="541020"/>
            <a:ext cx="355600" cy="304800"/>
          </a:xfrm>
          <a:prstGeom prst="rect">
            <a:avLst/>
          </a:prstGeom>
        </p:spPr>
      </p:pic>
      <p:pic>
        <p:nvPicPr>
          <p:cNvPr id="22" name="Image 3" descr="https://kimi-img.moonshot.cn/pub/slides/slides_tmpl/image/25-09-02-14:58:52-d2r9bb1e3tpg8rchv3a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725" y="2553335"/>
            <a:ext cx="817880" cy="817880"/>
          </a:xfrm>
          <a:prstGeom prst="rect">
            <a:avLst/>
          </a:prstGeom>
        </p:spPr>
      </p:pic>
      <p:pic>
        <p:nvPicPr>
          <p:cNvPr id="23" name="Image 4" descr="https://kimi-img.moonshot.cn/pub/slides/slides_tmpl/image/25-09-02-14:58:54-d2r9bbhe3tpg8rchv3e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325" y="1831340"/>
            <a:ext cx="817880" cy="805180"/>
          </a:xfrm>
          <a:prstGeom prst="rect">
            <a:avLst/>
          </a:prstGeom>
        </p:spPr>
      </p:pic>
      <p:pic>
        <p:nvPicPr>
          <p:cNvPr id="24" name="Image 5" descr="https://kimi-img.moonshot.cn/pub/slides/slides_tmpl/image/25-09-02-14:58:54-d2r9bbhe3tpg8rchv3e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5925" y="2553335"/>
            <a:ext cx="817880" cy="8051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1831340" y="2662555"/>
            <a:ext cx="607060" cy="5257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Text 18"/>
          <p:cNvSpPr/>
          <p:nvPr/>
        </p:nvSpPr>
        <p:spPr>
          <a:xfrm>
            <a:off x="1831340" y="2662555"/>
            <a:ext cx="6070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579120" y="3573780"/>
            <a:ext cx="366585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Negative-Pressure Liquid Cooling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542290" y="4154805"/>
            <a:ext cx="3393440" cy="19204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Chilldyne’s patented negative-pressure liquid cooling eliminates catastrophic coolant leak risks, ensuring safe and reliable operation. This technology enables 20% hashrate increases through safe overclocking.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5488940" y="1936115"/>
            <a:ext cx="607060" cy="517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Text 22"/>
          <p:cNvSpPr/>
          <p:nvPr/>
        </p:nvSpPr>
        <p:spPr>
          <a:xfrm>
            <a:off x="5488940" y="1936115"/>
            <a:ext cx="607060" cy="517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4255135" y="2823845"/>
            <a:ext cx="366585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Thermal Management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4197350" y="3187065"/>
            <a:ext cx="3393440" cy="20369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Superior thermal management drops chip temperatures by 30°C, extending ASIC lifespan by 40%. This thermal headroom translates into measurable hashrate and replacement-cycle savings.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9400540" y="2658110"/>
            <a:ext cx="607060" cy="517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Text 26"/>
          <p:cNvSpPr/>
          <p:nvPr/>
        </p:nvSpPr>
        <p:spPr>
          <a:xfrm>
            <a:off x="9400540" y="2658110"/>
            <a:ext cx="607060" cy="517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7802880" y="3555365"/>
            <a:ext cx="366585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Efficiency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7745095" y="3905885"/>
            <a:ext cx="3393440" cy="17706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maintaining optimal temperatures, Chilldyne cooling significantly reduces energy consumption per terahash, contributing to overall operational cost savings.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5-d2r9b99e3tpg8rchv2v0.jpg">    </p:cNvPr>
          <p:cNvPicPr>
            <a:picLocks noChangeAspect="1"/>
          </p:cNvPicPr>
          <p:nvPr/>
        </p:nvPicPr>
        <p:blipFill>
          <a:blip r:embed="rId1"/>
          <a:srcRect l="0" r="0" t="16" b="16"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45-d2r9b99e3tpg8rchv30g.jpg">    </p:cNvPr>
          <p:cNvPicPr>
            <a:picLocks noChangeAspect="1"/>
          </p:cNvPicPr>
          <p:nvPr/>
        </p:nvPicPr>
        <p:blipFill>
          <a:blip r:embed="rId2"/>
          <a:srcRect l="0" r="0" t="8" b="8"/>
          <a:stretch/>
        </p:blipFill>
        <p:spPr>
          <a:xfrm>
            <a:off x="-92710" y="-635"/>
            <a:ext cx="12284075" cy="691769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5790" y="2827655"/>
            <a:ext cx="4858385" cy="301625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605790" y="2827655"/>
            <a:ext cx="4858385" cy="3016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2" descr="https://kimi-img.moonshot.cn/pub/slides/25-11-30-08:17:16-d4loq345rbsfsj109fo0.png">    </p:cNvPr>
          <p:cNvPicPr>
            <a:picLocks noChangeAspect="1"/>
          </p:cNvPicPr>
          <p:nvPr/>
        </p:nvPicPr>
        <p:blipFill>
          <a:blip r:embed="rId3">
            <a:alphaModFix amt="87000"/>
          </a:blip>
          <a:stretch>
            <a:fillRect/>
          </a:stretch>
        </p:blipFill>
        <p:spPr>
          <a:xfrm>
            <a:off x="1919494" y="0"/>
            <a:ext cx="10296939" cy="68646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23900" y="311432"/>
            <a:ext cx="11103610" cy="72206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BraiinsOS+ Unlocks Hidden Efficiency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 flipH="1">
            <a:off x="11451590" y="67246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4"/>
          <p:cNvSpPr/>
          <p:nvPr/>
        </p:nvSpPr>
        <p:spPr>
          <a:xfrm>
            <a:off x="11451590" y="67246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 flipH="1">
            <a:off x="11320145" y="67373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11320145" y="67373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 flipH="1">
            <a:off x="11191875" y="67246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8"/>
          <p:cNvSpPr/>
          <p:nvPr/>
        </p:nvSpPr>
        <p:spPr>
          <a:xfrm>
            <a:off x="11191875" y="67246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flipH="1">
            <a:off x="11061065" y="67246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11061065" y="67246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23900" y="3121660"/>
            <a:ext cx="9146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Per-Chip Autotuning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84530" y="3579495"/>
            <a:ext cx="8674100" cy="20427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BraiinsOS+ delivers 8-15% improvement in J/TH efficiency through per-chip autotuning, unlocking the full potential of your hardware without vendor lock-in. This open-source firmware provides transparent performance metrics.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1-d2r9bape3tpg8rchv360.jpg">    </p:cNvPr>
          <p:cNvPicPr>
            <a:picLocks noChangeAspect="1"/>
          </p:cNvPicPr>
          <p:nvPr/>
        </p:nvPicPr>
        <p:blipFill>
          <a:blip r:embed="rId1"/>
          <a:srcRect l="0" r="0" t="17" b="17"/>
          <a:stretch/>
        </p:blipFill>
        <p:spPr>
          <a:xfrm>
            <a:off x="-3179" y="-1"/>
            <a:ext cx="12194137" cy="6865829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55-d2r9bbpe3tpg8rchv3j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" y="1460500"/>
            <a:ext cx="11003280" cy="18072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53165" y="930910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1353165" y="930910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 flipH="1">
            <a:off x="11224895" y="9309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224895" y="930910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11093450" y="930910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11093450" y="930910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flipH="1">
            <a:off x="10962640" y="9309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962640" y="930910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2215" y="710421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Ops &amp; Treasury: Profit on Autopilot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021813" y="2825476"/>
            <a:ext cx="637958" cy="637956"/>
          </a:xfrm>
          <a:prstGeom prst="ellipse">
            <a:avLst/>
          </a:prstGeom>
          <a:gradFill rotWithShape="1" flip="none">
            <a:gsLst>
              <a:gs pos="0">
                <a:srgbClr val="754412"/>
              </a:gs>
              <a:gs pos="10000">
                <a:srgbClr val="754412"/>
              </a:gs>
              <a:gs pos="85000">
                <a:srgbClr val="F5C166"/>
              </a:gs>
              <a:gs pos="100000">
                <a:srgbClr val="E2AA62"/>
              </a:gs>
            </a:gsLst>
            <a:lin ang="2700000" scaled="1"/>
          </a:gradFill>
          <a:ln w="12700">
            <a:solidFill>
              <a:srgbClr val="FBE199"/>
            </a:solidFill>
            <a:prstDash val="solid"/>
          </a:ln>
          <a:effectLst>
            <a:outerShdw sx="100000" sy="100000" kx="0" ky="0" algn="bl" rotWithShape="0" blurRad="290837" dist="50800" dir="2700000">
              <a:srgbClr val="f5c166">
                <a:alpha val="92941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021813" y="2825476"/>
            <a:ext cx="637958" cy="6379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811493" y="1760581"/>
            <a:ext cx="637958" cy="637956"/>
          </a:xfrm>
          <a:prstGeom prst="ellipse">
            <a:avLst/>
          </a:prstGeom>
          <a:gradFill rotWithShape="1" flip="none">
            <a:gsLst>
              <a:gs pos="0">
                <a:srgbClr val="754412"/>
              </a:gs>
              <a:gs pos="10000">
                <a:srgbClr val="754412"/>
              </a:gs>
              <a:gs pos="85000">
                <a:srgbClr val="F5C166"/>
              </a:gs>
              <a:gs pos="100000">
                <a:srgbClr val="E2AA62"/>
              </a:gs>
            </a:gsLst>
            <a:lin ang="2700000" scaled="1"/>
          </a:gradFill>
          <a:ln w="12700">
            <a:solidFill>
              <a:srgbClr val="FBE199"/>
            </a:solidFill>
            <a:prstDash val="solid"/>
          </a:ln>
          <a:effectLst>
            <a:outerShdw sx="100000" sy="100000" kx="0" ky="0" algn="bl" rotWithShape="0" blurRad="290837" dist="50800" dir="2700000">
              <a:srgbClr val="f5c166">
                <a:alpha val="92941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811493" y="1760581"/>
            <a:ext cx="637958" cy="6379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401148" y="1152251"/>
            <a:ext cx="637958" cy="637956"/>
          </a:xfrm>
          <a:prstGeom prst="ellipse">
            <a:avLst/>
          </a:prstGeom>
          <a:gradFill rotWithShape="1" flip="none">
            <a:gsLst>
              <a:gs pos="0">
                <a:srgbClr val="754412"/>
              </a:gs>
              <a:gs pos="10000">
                <a:srgbClr val="754412"/>
              </a:gs>
              <a:gs pos="85000">
                <a:srgbClr val="F5C166"/>
              </a:gs>
              <a:gs pos="100000">
                <a:srgbClr val="E2AA62"/>
              </a:gs>
            </a:gsLst>
            <a:lin ang="2700000" scaled="1"/>
          </a:gradFill>
          <a:ln w="12700">
            <a:solidFill>
              <a:srgbClr val="FBE199"/>
            </a:solidFill>
            <a:prstDash val="solid"/>
          </a:ln>
          <a:effectLst>
            <a:outerShdw sx="100000" sy="100000" kx="0" ky="0" algn="bl" rotWithShape="0" blurRad="290837" dist="50800" dir="2700000">
              <a:srgbClr val="f5c166">
                <a:alpha val="92941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401148" y="1152251"/>
            <a:ext cx="637958" cy="6379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2178605" y="2936563"/>
            <a:ext cx="364366" cy="4056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2178605" y="2936563"/>
            <a:ext cx="364366" cy="405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980435" y="3709885"/>
            <a:ext cx="314591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Autonomous Operations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64540" y="4006215"/>
            <a:ext cx="3496945" cy="20548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AI-powered autonomous operations handle 95% of operational decisions, from real-time optimization to predictive maintenance, reducing manual interventions and maintenance costs by 60%.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942893" y="1871668"/>
            <a:ext cx="481166" cy="4056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942893" y="1871668"/>
            <a:ext cx="481166" cy="405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577208" y="3404417"/>
            <a:ext cx="314591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Predictive Maintenance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346575" y="3688080"/>
            <a:ext cx="3496945" cy="18691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Predictive maintenance ensures 99%+ uptime, mitigating costly downtime risks. This proactive approach keeps your mining operation running smoothly and efficiently.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9532548" y="1263338"/>
            <a:ext cx="481166" cy="4056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9532548" y="1263338"/>
            <a:ext cx="481166" cy="405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202723" y="2675838"/>
            <a:ext cx="3177217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Automated Treasury Management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7971655" y="3267710"/>
            <a:ext cx="3496945" cy="19204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non-custodial treasury management system strategically allocates assets between Bitcoin and stablecoins, boosting long-term profitability by 30-60% without adding risk.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8-d2r9ba1e3tpg8rchv35g.jpg">    </p:cNvPr>
          <p:cNvPicPr>
            <a:picLocks noChangeAspect="1"/>
          </p:cNvPicPr>
          <p:nvPr/>
        </p:nvPicPr>
        <p:blipFill>
          <a:blip r:embed="rId1"/>
          <a:srcRect l="6932" r="28768" t="33896" b="8951"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4985" y="3718560"/>
            <a:ext cx="9302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Hard Numbers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26941" dir="27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4-d2r9bbhe3tpg8rchv3dg.jpg">    </p:cNvPr>
          <p:cNvPicPr>
            <a:picLocks noChangeAspect="1"/>
          </p:cNvPicPr>
          <p:nvPr/>
        </p:nvPicPr>
        <p:blipFill>
          <a:blip r:embed="rId1"/>
          <a:srcRect l="0" r="0" t="16" b="16"/>
          <a:stretch/>
        </p:blipFill>
        <p:spPr>
          <a:xfrm flipH="1">
            <a:off x="0" y="0"/>
            <a:ext cx="12078970" cy="680148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257925" y="-1711960"/>
            <a:ext cx="2129790" cy="8610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66545" y="710565"/>
            <a:ext cx="10184130" cy="6559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Before vs After: The 23 % Energy Win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57925" y="811530"/>
            <a:ext cx="2129790" cy="8610600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09-02-14:58:54-d2r9bbhe3tpg8rchv3e0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4530" y="1433830"/>
            <a:ext cx="4831080" cy="4831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49365" y="1729105"/>
            <a:ext cx="50965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Efficiency Gains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515610" y="2117725"/>
            <a:ext cx="5970905" cy="9602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TerraHash Stack reduces energy consumption from 18.5 J/TH to 14.2 J/TH, a 23% improvement. This translates to significant cost savings and enhanced profitability.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976620" y="4252595"/>
            <a:ext cx="54692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Hashrate and OPEX Reduction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615305" y="4641215"/>
            <a:ext cx="5871210" cy="9602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also delivers a 20% hashrate boost and a 65% reduction in operational expenses. These improvements ensure a rapid payback period of 16-24 months.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1-d2r9bape3tpg8rchv360.jpg">    </p:cNvPr>
          <p:cNvPicPr>
            <a:picLocks noChangeAspect="1"/>
          </p:cNvPicPr>
          <p:nvPr/>
        </p:nvPicPr>
        <p:blipFill>
          <a:blip r:embed="rId1"/>
          <a:srcRect l="0" r="0" t="16" b="16"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57-d2r9bc9e3tpg8rchv3m0.png">    </p:cNvPr>
          <p:cNvPicPr>
            <a:picLocks noChangeAspect="1"/>
          </p:cNvPicPr>
          <p:nvPr/>
        </p:nvPicPr>
        <p:blipFill>
          <a:blip r:embed="rId2"/>
          <a:srcRect l="17" r="17" t="0" b="0"/>
          <a:stretch/>
        </p:blipFill>
        <p:spPr>
          <a:xfrm>
            <a:off x="4590706" y="2502051"/>
            <a:ext cx="1092200" cy="1892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924640" y="910093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924640" y="910093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1052814" y="91009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052814" y="910093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1183828" y="910093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11183828" y="910093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1314843" y="91009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1314843" y="910093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2" name="Image 2" descr="https://kimi-img.moonshot.cn/pub/slides/slides_tmpl/image/25-09-02-14:58:57-d2r9bc9e3tpg8rchv3m0.png">    </p:cNvPr>
          <p:cNvPicPr>
            <a:picLocks noChangeAspect="1"/>
          </p:cNvPicPr>
          <p:nvPr/>
        </p:nvPicPr>
        <p:blipFill>
          <a:blip r:embed="rId3"/>
          <a:srcRect l="17" r="17" t="0" b="0"/>
          <a:stretch/>
        </p:blipFill>
        <p:spPr>
          <a:xfrm rot="10800000">
            <a:off x="1541077" y="3468617"/>
            <a:ext cx="1092200" cy="18923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09-02-14:58:57-d2r9bc9e3tpg8rchv3m0.png">    </p:cNvPr>
          <p:cNvPicPr>
            <a:picLocks noChangeAspect="1"/>
          </p:cNvPicPr>
          <p:nvPr/>
        </p:nvPicPr>
        <p:blipFill>
          <a:blip r:embed="rId4"/>
          <a:srcRect l="17" r="17" t="0" b="0"/>
          <a:stretch/>
        </p:blipFill>
        <p:spPr>
          <a:xfrm rot="10800000">
            <a:off x="6640366" y="3468617"/>
            <a:ext cx="1092200" cy="18923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09-02-14:58:57-d2r9bc9e3tpg8rchv3m0.png">    </p:cNvPr>
          <p:cNvPicPr>
            <a:picLocks noChangeAspect="1"/>
          </p:cNvPicPr>
          <p:nvPr/>
        </p:nvPicPr>
        <p:blipFill>
          <a:blip r:embed="rId5"/>
          <a:srcRect l="17" r="17" t="0" b="0"/>
          <a:stretch/>
        </p:blipFill>
        <p:spPr>
          <a:xfrm>
            <a:off x="9679913" y="2510361"/>
            <a:ext cx="1092200" cy="1892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1810" y="726440"/>
            <a:ext cx="10099675" cy="83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Payback &amp; Uptime You Can Bank On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1764991" y="4671730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1764991" y="4671730"/>
            <a:ext cx="652471" cy="32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2646045" y="4222750"/>
            <a:ext cx="42837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Guaranteed Uptime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2541905" y="4476115"/>
            <a:ext cx="4283710" cy="12803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TerraHash Stack guarantees 99% uptime, significantly higher than the industry average of 85-90%. This reliability ensures consistent mining operations and revenue generation.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4813594" y="2861125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4813594" y="2861125"/>
            <a:ext cx="652471" cy="32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16585" y="1790700"/>
            <a:ext cx="42837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Rapid Payback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1810" y="2044065"/>
            <a:ext cx="4283710" cy="12803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 a typical payback period of 16-24 months, the TerraHash Stack offers a quick return on investment, making it a financially sound decision for your mining operation.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857735" y="4688664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6857735" y="4688664"/>
            <a:ext cx="652471" cy="32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686040" y="4222750"/>
            <a:ext cx="42837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Extended Equipment Life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581265" y="4476115"/>
            <a:ext cx="4283710" cy="12803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retrofit extends ASIC lifespan from 30-36 months to 4-5 years, reducing hardware replacement costs and maximizing the value of your investment.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9899777" y="2879414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9899777" y="2879414"/>
            <a:ext cx="652471" cy="32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5631815" y="1790700"/>
            <a:ext cx="42837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Guarantees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5527675" y="2044065"/>
            <a:ext cx="4283710" cy="12803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Fixed-price contracts with performance guarantees and comprehensive SLA support ensure your success, transferring risk from your operation to Ryno Crypto.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8-d2r9ba1e3tpg8rchv35g.jpg">    </p:cNvPr>
          <p:cNvPicPr>
            <a:picLocks noChangeAspect="1"/>
          </p:cNvPicPr>
          <p:nvPr/>
        </p:nvPicPr>
        <p:blipFill>
          <a:blip r:embed="rId1"/>
          <a:srcRect l="6932" r="28768" t="33896" b="8951"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4985" y="3718560"/>
            <a:ext cx="9302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 Choices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26941" dir="27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1-d2r9bape3tpg8rchv360.jpg">    </p:cNvPr>
          <p:cNvPicPr>
            <a:picLocks noChangeAspect="1"/>
          </p:cNvPicPr>
          <p:nvPr/>
        </p:nvPicPr>
        <p:blipFill>
          <a:blip r:embed="rId1"/>
          <a:srcRect l="0" r="0" t="16" b="16"/>
          <a:stretch/>
        </p:blipFill>
        <p:spPr>
          <a:xfrm>
            <a:off x="-3178" y="-1"/>
            <a:ext cx="12195178" cy="68664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55-d2r9bbpe3tpg8rchv3j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4801235"/>
            <a:ext cx="10161905" cy="158940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2-14:58:55-d2r9bbpe3tpg8rchv3j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511935" y="3267075"/>
            <a:ext cx="10161905" cy="158940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2-14:58:55-d2r9bbpe3tpg8rchv3j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1706880"/>
            <a:ext cx="10161905" cy="158940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9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42290" y="781050"/>
            <a:ext cx="10198100" cy="83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Container, Warehouse, or Fleet-Only</a:t>
            </a:r>
            <a:endParaRPr lang="en-US" sz="1600" dirty="0"/>
          </a:p>
        </p:txBody>
      </p:sp>
      <p:pic>
        <p:nvPicPr>
          <p:cNvPr id="15" name="Image 4" descr="https://kimi-img.moonshot.cn/pub/slides/slides_tmpl/image/25-09-02-14:58:55-d2r9bbpe3tpg8rchv3k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695" y="1966595"/>
            <a:ext cx="1089025" cy="1089025"/>
          </a:xfrm>
          <a:prstGeom prst="rect">
            <a:avLst/>
          </a:prstGeom>
        </p:spPr>
      </p:pic>
      <p:pic>
        <p:nvPicPr>
          <p:cNvPr id="16" name="Image 5" descr="https://kimi-img.moonshot.cn/pub/slides/slides_tmpl/image/25-09-02-14:58:55-d2r9bbpe3tpg8rchv3k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0330" y="3519805"/>
            <a:ext cx="1089025" cy="1089025"/>
          </a:xfrm>
          <a:prstGeom prst="rect">
            <a:avLst/>
          </a:prstGeom>
        </p:spPr>
      </p:pic>
      <p:pic>
        <p:nvPicPr>
          <p:cNvPr id="17" name="Image 6" descr="https://kimi-img.moonshot.cn/pub/slides/slides_tmpl/image/25-09-02-14:58:55-d2r9bbpe3tpg8rchv3k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95" y="5079365"/>
            <a:ext cx="1089025" cy="1089025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1229678" y="2202180"/>
            <a:ext cx="607060" cy="5257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0"/>
          <p:cNvSpPr/>
          <p:nvPr/>
        </p:nvSpPr>
        <p:spPr>
          <a:xfrm>
            <a:off x="1229678" y="2202180"/>
            <a:ext cx="6070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2412365" y="1929765"/>
            <a:ext cx="58439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Container-Based Retrofits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2321345" y="2288940"/>
            <a:ext cx="7796220" cy="5246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Ideal for modular deployments, 5 MW container retrofits offer a 16-20 month payback period within a 12-14 week timeline, requiring an investment of $1.8-2.2M.</a:t>
            </a:r>
            <a:endParaRPr lang="en-US" sz="1600" dirty="0"/>
          </a:p>
        </p:txBody>
      </p:sp>
      <p:sp>
        <p:nvSpPr>
          <p:cNvPr id="22" name="Shape 13"/>
          <p:cNvSpPr/>
          <p:nvPr/>
        </p:nvSpPr>
        <p:spPr>
          <a:xfrm>
            <a:off x="10501630" y="3755390"/>
            <a:ext cx="607060" cy="5257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Text 14"/>
          <p:cNvSpPr/>
          <p:nvPr/>
        </p:nvSpPr>
        <p:spPr>
          <a:xfrm>
            <a:off x="10501630" y="3755390"/>
            <a:ext cx="6070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3332480" y="3491865"/>
            <a:ext cx="69894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Warehouse Conversions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2147779" y="3759376"/>
            <a:ext cx="7796220" cy="5246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Comprehensive overhauls for large-scale facilities (25 MW typical) provide an 18-24 month payback period within a 20-24 week timeline, with an investment of $9-11M.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1229678" y="5314950"/>
            <a:ext cx="607060" cy="5257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Text 18"/>
          <p:cNvSpPr/>
          <p:nvPr/>
        </p:nvSpPr>
        <p:spPr>
          <a:xfrm>
            <a:off x="1229678" y="5314950"/>
            <a:ext cx="6070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2412365" y="5006975"/>
            <a:ext cx="58439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Legacy Fleet Upgrades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2321345" y="5297316"/>
            <a:ext cx="7796220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Targeted solutions address specific operational bottlenecks with custom timelines and pricing, ensuring flexibility and tailored improvements.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8-d2r9ba1e3tpg8rchv34g.jpg">    </p:cNvPr>
          <p:cNvPicPr>
            <a:picLocks noChangeAspect="1"/>
          </p:cNvPicPr>
          <p:nvPr/>
        </p:nvPicPr>
        <p:blipFill>
          <a:blip r:embed="rId1"/>
          <a:srcRect l="219" r="6314" t="2801" b="17935"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1583035" y="618045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11583035" y="618045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H="1">
            <a:off x="11451590" y="618172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1451590" y="618172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H="1">
            <a:off x="11323320" y="618045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1323320" y="618045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H="1">
            <a:off x="11192510" y="618045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192510" y="618045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25-11-30-13:32:39-d4ltdtsupvnvrv8oj2o0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1402070"/>
            <a:ext cx="5902273" cy="41737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3940" y="661670"/>
            <a:ext cx="9548495" cy="15678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7-Day Assessment to Signed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31735" y="1993900"/>
            <a:ext cx="382778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Rapid Assessment and Deployment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03874" y="2662242"/>
            <a:ext cx="5088126" cy="15401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Ryno Crypto offers a rapid 7-10 day facility assessment, followed by a custom engineering design, modular phased construction, and 24/7 NOC optimization. This streamlined process ensures quick deployment and value realization.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8-d2r9ba1e3tpg8rchv35g.jpg">    </p:cNvPr>
          <p:cNvPicPr>
            <a:picLocks noChangeAspect="1"/>
          </p:cNvPicPr>
          <p:nvPr/>
        </p:nvPicPr>
        <p:blipFill>
          <a:blip r:embed="rId1"/>
          <a:srcRect l="6932" r="28768" t="33896" b="8951"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4985" y="3718560"/>
            <a:ext cx="9302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Partner Proof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26941" dir="27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4-d2r9bbhe3tpg8rchv3d0.jpg">    </p:cNvPr>
          <p:cNvPicPr>
            <a:picLocks noChangeAspect="1"/>
          </p:cNvPicPr>
          <p:nvPr/>
        </p:nvPicPr>
        <p:blipFill>
          <a:blip r:embed="rId1"/>
          <a:srcRect l="-6" r="26750" t="3925" b="16916"/>
          <a:stretch/>
        </p:blipFill>
        <p:spPr>
          <a:xfrm>
            <a:off x="-1041" y="0"/>
            <a:ext cx="12192000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Ryno Crypto, Why Now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 flipH="1">
            <a:off x="1573530" y="75882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573530" y="75882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flipH="1">
            <a:off x="1445260" y="75882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445260" y="75882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flipH="1">
            <a:off x="1313815" y="75882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313815" y="75882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 flipH="1">
            <a:off x="1183005" y="75882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183005" y="758825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8" name="Image 1" descr="https://kimi-img.moonshot.cn/pub/slides/slides_tmpl/image/25-09-02-14:58:52-d2r9bb1e3tpg8rchv3bg.png">    </p:cNvPr>
          <p:cNvPicPr>
            <a:picLocks noChangeAspect="1"/>
          </p:cNvPicPr>
          <p:nvPr/>
        </p:nvPicPr>
        <p:blipFill>
          <a:blip r:embed="rId2"/>
          <a:srcRect l="0" r="0" t="357" b="357"/>
          <a:stretch/>
        </p:blipFill>
        <p:spPr>
          <a:xfrm flipH="1" flipV="1">
            <a:off x="662940" y="541020"/>
            <a:ext cx="355600" cy="304800"/>
          </a:xfrm>
          <a:prstGeom prst="rect">
            <a:avLst/>
          </a:prstGeom>
        </p:spPr>
      </p:pic>
      <p:pic>
        <p:nvPicPr>
          <p:cNvPr id="19" name="Image 2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734560" y="-2088515"/>
            <a:ext cx="1564005" cy="9707880"/>
          </a:xfrm>
          <a:prstGeom prst="rect">
            <a:avLst/>
          </a:prstGeom>
        </p:spPr>
      </p:pic>
      <p:pic>
        <p:nvPicPr>
          <p:cNvPr id="20" name="Image 3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34560" y="-189865"/>
            <a:ext cx="1564005" cy="9707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5040" y="2101215"/>
            <a:ext cx="8086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Open-Source and Sustainable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49630" y="2408555"/>
            <a:ext cx="9360535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Ryno Crypto is committed to open-source principles and sustainability. Our solutions prioritize energy efficiency, heat recovery, and renewable energy integration, ensuring responsible mining practices.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55040" y="3999865"/>
            <a:ext cx="8086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AI-Native Operations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49630" y="4307205"/>
            <a:ext cx="9360535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Our AI-powered autonomous management handles 95% of operational decisions, freeing your team to focus on strategic growth initiatives. This technology ensures maximum efficiency and profitability.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1-d2r9bape3tpg8rchv360.jpg">    </p:cNvPr>
          <p:cNvPicPr>
            <a:picLocks noChangeAspect="1"/>
          </p:cNvPicPr>
          <p:nvPr/>
        </p:nvPicPr>
        <p:blipFill>
          <a:blip r:embed="rId1"/>
          <a:srcRect l="0" r="0" t="16" b="16"/>
          <a:stretch/>
        </p:blipFill>
        <p:spPr>
          <a:xfrm>
            <a:off x="-3178" y="-1"/>
            <a:ext cx="12195178" cy="68664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375275" y="-3006090"/>
            <a:ext cx="1304925" cy="10728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691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1314843" y="9691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 flipH="1">
            <a:off x="11186668" y="9691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186668" y="9691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11055654" y="9691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11055654" y="9691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flipH="1">
            <a:off x="10924640" y="9691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924640" y="9691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2290" y="737870"/>
            <a:ext cx="9926955" cy="83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Step: Book Your Free Audit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375275" y="-1408430"/>
            <a:ext cx="1304925" cy="1072896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9-02-14:58:52-d2r9bb1e3tpg8rchv3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375275" y="231775"/>
            <a:ext cx="1304925" cy="107289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6770" y="2098675"/>
            <a:ext cx="256222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Complimentary Assessment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388360" y="1831340"/>
            <a:ext cx="7797800" cy="1087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Schedule a complimentary on-site or virtual assessment to receive detailed ROI projections within a week. This zero-risk entry ensures you are making an informed decision.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26770" y="3696335"/>
            <a:ext cx="256222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Lock in 2025 Deployment Slots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3388360" y="3429000"/>
            <a:ext cx="7797800" cy="1087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 your spot for 2025 deployments to capitalize on the upcoming bull cycle. Retrofitting now maximizes your potential for profit during the next market upswing.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26770" y="5336540"/>
            <a:ext cx="2562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Contact Information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3388360" y="5069205"/>
            <a:ext cx="7797800" cy="1087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Contact us at info@rynocrypto.com or visit rynocrypto.com to schedule your assessment and take the first step towards transforming your mining operation.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48-d2r9ba1e3tpg8rchv35g.jpg">    </p:cNvPr>
          <p:cNvPicPr>
            <a:picLocks noChangeAspect="1"/>
          </p:cNvPicPr>
          <p:nvPr/>
        </p:nvPicPr>
        <p:blipFill>
          <a:blip r:embed="rId1"/>
          <a:srcRect l="6932" r="28768" t="33896" b="8951"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4985" y="3718560"/>
            <a:ext cx="9302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Q&amp;A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26941" dir="27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01273" y="138366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5-11-30-08:15:33-d4lop9atuj35cppmgdo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164" y="0"/>
            <a:ext cx="6270307" cy="418020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2-14:58:45-d2r9b99e3tpg8rchv2v0.jpg">    </p:cNvPr>
          <p:cNvPicPr>
            <a:picLocks noChangeAspect="1"/>
          </p:cNvPicPr>
          <p:nvPr/>
        </p:nvPicPr>
        <p:blipFill>
          <a:blip r:embed="rId2"/>
          <a:srcRect l="0" r="0" t="16" b="16"/>
          <a:stretch/>
        </p:blipFill>
        <p:spPr>
          <a:xfrm>
            <a:off x="2" y="3426"/>
            <a:ext cx="12191999" cy="6864626"/>
          </a:xfrm>
          <a:prstGeom prst="rect">
            <a:avLst/>
          </a:prstGeom>
        </p:spPr>
      </p:pic>
      <p:pic>
        <p:nvPicPr>
          <p:cNvPr id="4" name="Image 2" descr="https://kimi-img.moonshot.cn/pub/slides/25-11-30-08:16:29-d4lopnc432e2a2l5dp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3174"/>
            <a:ext cx="12191999" cy="417703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H="1">
            <a:off x="11451321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1"/>
          <p:cNvSpPr/>
          <p:nvPr/>
        </p:nvSpPr>
        <p:spPr>
          <a:xfrm>
            <a:off x="11451321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11319983" y="673749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8" name="Text 3"/>
          <p:cNvSpPr/>
          <p:nvPr/>
        </p:nvSpPr>
        <p:spPr>
          <a:xfrm>
            <a:off x="11319983" y="673749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11192132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5"/>
          <p:cNvSpPr/>
          <p:nvPr/>
        </p:nvSpPr>
        <p:spPr>
          <a:xfrm>
            <a:off x="11192132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 flipH="1">
            <a:off x="11061118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11061118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2290" y="593090"/>
            <a:ext cx="10206355" cy="83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 Floor: Ask the Retrofit Team</a:t>
            </a:r>
            <a:endParaRPr lang="en-US" sz="1600" dirty="0"/>
          </a:p>
        </p:txBody>
      </p:sp>
      <p:pic>
        <p:nvPicPr>
          <p:cNvPr id="14" name="Image 3" descr="https://kimi-img.moonshot.cn/pub/slides/slides_tmpl/image/25-09-02-14:58:42-d2r9b8he3tpg8rchv2qg.jpg">    </p:cNvPr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760730" y="2317115"/>
            <a:ext cx="19050" cy="3390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81545" y="4869180"/>
            <a:ext cx="43935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Q&amp;A Session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321435" y="5176520"/>
            <a:ext cx="10412730" cy="817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invite you to ask any technical, financial, or logistical questions. Our team is here to provide transparency, open-source firmware access, and SLA guarantees. Ensure you leave with a clear understanding of the retrofit benefits.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58:54-d2r9bbhe3tpg8rchv3d0.jpg">    </p:cNvPr>
          <p:cNvPicPr>
            <a:picLocks noChangeAspect="1"/>
          </p:cNvPicPr>
          <p:nvPr/>
        </p:nvPicPr>
        <p:blipFill>
          <a:blip r:embed="rId1"/>
          <a:srcRect l="71" r="16288" t="0" b="24055"/>
          <a:stretch/>
        </p:blipFill>
        <p:spPr>
          <a:xfrm>
            <a:off x="0" y="0"/>
            <a:ext cx="12191999" cy="68646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032317" y="1075981"/>
            <a:ext cx="8127365" cy="18148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90000"/>
              </a:lnSpc>
            </a:pPr>
            <a:r>
              <a:rPr lang="en-US" sz="9600" b="1" dirty="0">
                <a:solidFill>
                  <a:srgbClr val="F8D08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441369" y="5888446"/>
            <a:ext cx="1329624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pic>
        <p:nvPicPr>
          <p:cNvPr id="18" name="Image 1" descr="https://kimi-img.moonshot.cn/pub/slides/25-11-30-08:21:33-d4los3d7vds4jngtaq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121" y="2890870"/>
            <a:ext cx="3973756" cy="397375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TerraHash Retrofit: Mine Smarter</dc:title>
  <dc:subject>TerraHash Retrofit: Mine Smarter</dc:subject>
  <dc:creator>Kimi</dc:creator>
  <cp:lastModifiedBy>Kimi</cp:lastModifiedBy>
  <cp:revision>1</cp:revision>
  <dcterms:created xsi:type="dcterms:W3CDTF">2025-11-30T05:34:08Z</dcterms:created>
  <dcterms:modified xsi:type="dcterms:W3CDTF">2025-11-30T05:34:08Z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{"Label":"TerraHash Retrofit: Mine Smarter","ContentProducer":"001191110108MACG2KBH8F10000","ProduceID":"d4logvc5rbsfsj108650","ReservedCode1":"","ContentPropagator":"001191110108MACG2KBH8F20000","PropagateID":"d4logvc5rbsfsj108650","ReservedCode2":""}</vt:lpwstr>
  </property>
</Properties>
</file>