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rimo Bold" charset="1" panose="020B0704020202020204"/>
      <p:regular r:id="rId30"/>
    </p:embeddedFont>
    <p:embeddedFont>
      <p:font typeface="Arimo" charset="1" panose="020B0604020202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3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5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0.jpeg" Type="http://schemas.openxmlformats.org/officeDocument/2006/relationships/image"/><Relationship Id="rId4" Target="../media/image21.jpe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0.jpe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4.jpeg" Type="http://schemas.openxmlformats.org/officeDocument/2006/relationships/image"/><Relationship Id="rId4" Target="../media/image11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0.jpe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0.jpe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9.jpe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31.jpeg" Type="http://schemas.openxmlformats.org/officeDocument/2006/relationships/image"/><Relationship Id="rId4" Target="../media/image17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0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32.png" Type="http://schemas.openxmlformats.org/officeDocument/2006/relationships/image"/><Relationship Id="rId4" Target="../media/image20.jpeg" Type="http://schemas.openxmlformats.org/officeDocument/2006/relationships/image"/><Relationship Id="rId5" Target="../media/image33.pn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31.jpeg" Type="http://schemas.openxmlformats.org/officeDocument/2006/relationships/image"/><Relationship Id="rId4" Target="../media/image3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7998" cy="10296939"/>
            <a:chOff x="0" y="0"/>
            <a:chExt cx="24383998" cy="13729252"/>
          </a:xfrm>
        </p:grpSpPr>
        <p:sp>
          <p:nvSpPr>
            <p:cNvPr name="Freeform 3" id="3" descr="https://kimi-img.moonshot.cn/pub/slides/slides_tmpl/image/25-09-02-14:58:41-d2r9b89e3tpg8rchv2q0.png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-30" b="-1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83945" y="2501265"/>
            <a:ext cx="16443960" cy="3412808"/>
            <a:chOff x="0" y="0"/>
            <a:chExt cx="21925280" cy="45504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25280" cy="4550410"/>
            </a:xfrm>
            <a:custGeom>
              <a:avLst/>
              <a:gdLst/>
              <a:ahLst/>
              <a:cxnLst/>
              <a:rect r="r" b="b" t="t" l="l"/>
              <a:pathLst>
                <a:path h="4550410" w="21925280">
                  <a:moveTo>
                    <a:pt x="0" y="758444"/>
                  </a:moveTo>
                  <a:cubicBezTo>
                    <a:pt x="0" y="339598"/>
                    <a:pt x="339598" y="0"/>
                    <a:pt x="758444" y="0"/>
                  </a:cubicBezTo>
                  <a:lnTo>
                    <a:pt x="21166837" y="0"/>
                  </a:lnTo>
                  <a:cubicBezTo>
                    <a:pt x="21585682" y="0"/>
                    <a:pt x="21925280" y="339598"/>
                    <a:pt x="21925280" y="758444"/>
                  </a:cubicBezTo>
                  <a:lnTo>
                    <a:pt x="21925280" y="3791966"/>
                  </a:lnTo>
                  <a:cubicBezTo>
                    <a:pt x="21925280" y="4210812"/>
                    <a:pt x="21585682" y="4550410"/>
                    <a:pt x="21166837" y="4550410"/>
                  </a:cubicBezTo>
                  <a:lnTo>
                    <a:pt x="758444" y="4550410"/>
                  </a:lnTo>
                  <a:cubicBezTo>
                    <a:pt x="339598" y="4550410"/>
                    <a:pt x="0" y="4210812"/>
                    <a:pt x="0" y="3791966"/>
                  </a:cubicBezTo>
                  <a:close/>
                </a:path>
              </a:pathLst>
            </a:custGeom>
            <a:solidFill>
              <a:srgbClr val="000000">
                <a:alpha val="42353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917382" y="3342323"/>
            <a:ext cx="15241905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TerraHash Retrofit: Mine Smarter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60145" y="9396412"/>
            <a:ext cx="19050" cy="207645"/>
            <a:chOff x="0" y="0"/>
            <a:chExt cx="25400" cy="2768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91590" y="9396412"/>
            <a:ext cx="19050" cy="207645"/>
            <a:chOff x="0" y="0"/>
            <a:chExt cx="25400" cy="276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423988" y="9240202"/>
            <a:ext cx="19050" cy="349568"/>
            <a:chOff x="0" y="0"/>
            <a:chExt cx="25400" cy="4660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2700"/>
              <a:ext cx="25400" cy="440690"/>
            </a:xfrm>
            <a:custGeom>
              <a:avLst/>
              <a:gdLst/>
              <a:ahLst/>
              <a:cxnLst/>
              <a:rect r="r" b="b" t="t" l="l"/>
              <a:pathLst>
                <a:path h="440690" w="25400">
                  <a:moveTo>
                    <a:pt x="25400" y="0"/>
                  </a:moveTo>
                  <a:lnTo>
                    <a:pt x="25400" y="440690"/>
                  </a:lnTo>
                  <a:lnTo>
                    <a:pt x="0" y="440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56385" y="9396412"/>
            <a:ext cx="19050" cy="207645"/>
            <a:chOff x="0" y="0"/>
            <a:chExt cx="25400" cy="2768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87830" y="9396412"/>
            <a:ext cx="19050" cy="207645"/>
            <a:chOff x="0" y="0"/>
            <a:chExt cx="25400" cy="2768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6195248" y="9594669"/>
            <a:ext cx="175266" cy="175266"/>
            <a:chOff x="0" y="0"/>
            <a:chExt cx="233688" cy="2336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3680" cy="233680"/>
            </a:xfrm>
            <a:custGeom>
              <a:avLst/>
              <a:gdLst/>
              <a:ahLst/>
              <a:cxnLst/>
              <a:rect r="r" b="b" t="t" l="l"/>
              <a:pathLst>
                <a:path h="233680" w="233680">
                  <a:moveTo>
                    <a:pt x="0" y="116840"/>
                  </a:moveTo>
                  <a:cubicBezTo>
                    <a:pt x="0" y="52324"/>
                    <a:pt x="52324" y="0"/>
                    <a:pt x="116840" y="0"/>
                  </a:cubicBezTo>
                  <a:cubicBezTo>
                    <a:pt x="181356" y="0"/>
                    <a:pt x="233680" y="52324"/>
                    <a:pt x="233680" y="116840"/>
                  </a:cubicBezTo>
                  <a:cubicBezTo>
                    <a:pt x="233680" y="181356"/>
                    <a:pt x="181356" y="233680"/>
                    <a:pt x="116840" y="233680"/>
                  </a:cubicBezTo>
                  <a:cubicBezTo>
                    <a:pt x="52324" y="233680"/>
                    <a:pt x="0" y="181356"/>
                    <a:pt x="0" y="11684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6484006" y="9594669"/>
            <a:ext cx="175266" cy="175266"/>
            <a:chOff x="0" y="0"/>
            <a:chExt cx="233688" cy="2336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3680" cy="233680"/>
            </a:xfrm>
            <a:custGeom>
              <a:avLst/>
              <a:gdLst/>
              <a:ahLst/>
              <a:cxnLst/>
              <a:rect r="r" b="b" t="t" l="l"/>
              <a:pathLst>
                <a:path h="233680" w="233680">
                  <a:moveTo>
                    <a:pt x="0" y="116840"/>
                  </a:moveTo>
                  <a:cubicBezTo>
                    <a:pt x="0" y="52324"/>
                    <a:pt x="52324" y="0"/>
                    <a:pt x="116840" y="0"/>
                  </a:cubicBezTo>
                  <a:cubicBezTo>
                    <a:pt x="181356" y="0"/>
                    <a:pt x="233680" y="52324"/>
                    <a:pt x="233680" y="116840"/>
                  </a:cubicBezTo>
                  <a:cubicBezTo>
                    <a:pt x="233680" y="181356"/>
                    <a:pt x="181356" y="233680"/>
                    <a:pt x="116840" y="233680"/>
                  </a:cubicBezTo>
                  <a:cubicBezTo>
                    <a:pt x="52324" y="233680"/>
                    <a:pt x="0" y="181356"/>
                    <a:pt x="0" y="116840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6779160" y="9594669"/>
            <a:ext cx="175266" cy="175266"/>
            <a:chOff x="0" y="0"/>
            <a:chExt cx="233688" cy="2336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3680" cy="233680"/>
            </a:xfrm>
            <a:custGeom>
              <a:avLst/>
              <a:gdLst/>
              <a:ahLst/>
              <a:cxnLst/>
              <a:rect r="r" b="b" t="t" l="l"/>
              <a:pathLst>
                <a:path h="233680" w="233680">
                  <a:moveTo>
                    <a:pt x="0" y="116840"/>
                  </a:moveTo>
                  <a:cubicBezTo>
                    <a:pt x="0" y="52324"/>
                    <a:pt x="52324" y="0"/>
                    <a:pt x="116840" y="0"/>
                  </a:cubicBezTo>
                  <a:cubicBezTo>
                    <a:pt x="181356" y="0"/>
                    <a:pt x="233680" y="52324"/>
                    <a:pt x="233680" y="116840"/>
                  </a:cubicBezTo>
                  <a:cubicBezTo>
                    <a:pt x="233680" y="181356"/>
                    <a:pt x="181356" y="233680"/>
                    <a:pt x="116840" y="233680"/>
                  </a:cubicBezTo>
                  <a:cubicBezTo>
                    <a:pt x="52324" y="233680"/>
                    <a:pt x="0" y="181356"/>
                    <a:pt x="0" y="11684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7074316" y="9594669"/>
            <a:ext cx="175266" cy="175266"/>
            <a:chOff x="0" y="0"/>
            <a:chExt cx="233688" cy="2336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3680" cy="233680"/>
            </a:xfrm>
            <a:custGeom>
              <a:avLst/>
              <a:gdLst/>
              <a:ahLst/>
              <a:cxnLst/>
              <a:rect r="r" b="b" t="t" l="l"/>
              <a:pathLst>
                <a:path h="233680" w="233680">
                  <a:moveTo>
                    <a:pt x="0" y="116840"/>
                  </a:moveTo>
                  <a:cubicBezTo>
                    <a:pt x="0" y="52324"/>
                    <a:pt x="52324" y="0"/>
                    <a:pt x="116840" y="0"/>
                  </a:cubicBezTo>
                  <a:cubicBezTo>
                    <a:pt x="181356" y="0"/>
                    <a:pt x="233680" y="52324"/>
                    <a:pt x="233680" y="116840"/>
                  </a:cubicBezTo>
                  <a:cubicBezTo>
                    <a:pt x="233680" y="181356"/>
                    <a:pt x="181356" y="233680"/>
                    <a:pt x="116840" y="233680"/>
                  </a:cubicBezTo>
                  <a:cubicBezTo>
                    <a:pt x="52324" y="233680"/>
                    <a:pt x="0" y="181356"/>
                    <a:pt x="0" y="116840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5616551" y="9131616"/>
            <a:ext cx="2085441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2025/08/05</a:t>
            </a:r>
          </a:p>
        </p:txBody>
      </p: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9305925" y="5924012"/>
            <a:ext cx="4372927" cy="4372928"/>
            <a:chOff x="0" y="0"/>
            <a:chExt cx="5830570" cy="5830570"/>
          </a:xfrm>
        </p:grpSpPr>
        <p:sp>
          <p:nvSpPr>
            <p:cNvPr name="Freeform 27" id="27" descr="https://kimi-img.moonshot.cn/pub/slides/25-11-30-08:04:15-d4lojvt7vds4jngt9k2g.png"/>
            <p:cNvSpPr/>
            <p:nvPr/>
          </p:nvSpPr>
          <p:spPr>
            <a:xfrm flipH="false" flipV="false" rot="0">
              <a:off x="0" y="0"/>
              <a:ext cx="5830570" cy="5830570"/>
            </a:xfrm>
            <a:custGeom>
              <a:avLst/>
              <a:gdLst/>
              <a:ahLst/>
              <a:cxnLst/>
              <a:rect r="r" b="b" t="t" l="l"/>
              <a:pathLst>
                <a:path h="5830570" w="5830570">
                  <a:moveTo>
                    <a:pt x="0" y="0"/>
                  </a:moveTo>
                  <a:lnTo>
                    <a:pt x="5830570" y="0"/>
                  </a:lnTo>
                  <a:lnTo>
                    <a:pt x="5830570" y="5830570"/>
                  </a:lnTo>
                  <a:lnTo>
                    <a:pt x="0" y="5830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3788060" y="5924012"/>
            <a:ext cx="4372928" cy="4372928"/>
            <a:chOff x="0" y="0"/>
            <a:chExt cx="5830570" cy="5830570"/>
          </a:xfrm>
        </p:grpSpPr>
        <p:sp>
          <p:nvSpPr>
            <p:cNvPr name="Freeform 29" id="29" descr="https://kimi-img.moonshot.cn/pub/slides/25-11-30-08:05:48-d4lokn7hq49gqo0d5fu0.png"/>
            <p:cNvSpPr/>
            <p:nvPr/>
          </p:nvSpPr>
          <p:spPr>
            <a:xfrm flipH="false" flipV="false" rot="0">
              <a:off x="0" y="0"/>
              <a:ext cx="5830570" cy="5830570"/>
            </a:xfrm>
            <a:custGeom>
              <a:avLst/>
              <a:gdLst/>
              <a:ahLst/>
              <a:cxnLst/>
              <a:rect r="r" b="b" t="t" l="l"/>
              <a:pathLst>
                <a:path h="5830570" w="5830570">
                  <a:moveTo>
                    <a:pt x="0" y="0"/>
                  </a:moveTo>
                  <a:lnTo>
                    <a:pt x="5830570" y="0"/>
                  </a:lnTo>
                  <a:lnTo>
                    <a:pt x="5830570" y="5830570"/>
                  </a:lnTo>
                  <a:lnTo>
                    <a:pt x="0" y="5830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17044" y="0"/>
            <a:ext cx="18305044" cy="10306534"/>
            <a:chOff x="0" y="0"/>
            <a:chExt cx="24406726" cy="13742046"/>
          </a:xfrm>
        </p:grpSpPr>
        <p:sp>
          <p:nvSpPr>
            <p:cNvPr name="Freeform 3" id="3" descr="https://kimi-img.moonshot.cn/pub/slides/slides_tmpl/image/25-09-02-14:58:43-d2r9b8pe3tpg8rchv2tg.jpg"/>
            <p:cNvSpPr/>
            <p:nvPr/>
          </p:nvSpPr>
          <p:spPr>
            <a:xfrm flipH="false" flipV="false" rot="0">
              <a:off x="0" y="0"/>
              <a:ext cx="24406733" cy="13742036"/>
            </a:xfrm>
            <a:custGeom>
              <a:avLst/>
              <a:gdLst/>
              <a:ahLst/>
              <a:cxnLst/>
              <a:rect r="r" b="b" t="t" l="l"/>
              <a:pathLst>
                <a:path h="13742036" w="24406733">
                  <a:moveTo>
                    <a:pt x="0" y="0"/>
                  </a:moveTo>
                  <a:lnTo>
                    <a:pt x="24406733" y="0"/>
                  </a:lnTo>
                  <a:lnTo>
                    <a:pt x="24406733" y="13742036"/>
                  </a:lnTo>
                  <a:lnTo>
                    <a:pt x="0" y="137420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" r="0" b="-36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384935" y="2596515"/>
            <a:ext cx="28575" cy="5086350"/>
            <a:chOff x="0" y="0"/>
            <a:chExt cx="38100" cy="6781800"/>
          </a:xfrm>
        </p:grpSpPr>
        <p:sp>
          <p:nvSpPr>
            <p:cNvPr name="Freeform 5" id="5" descr="https://kimi-img.moonshot.cn/pub/slides/slides_tmpl/image/25-09-02-14:58:42-d2r9b8he3tpg8rchv2qg.jpg"/>
            <p:cNvSpPr/>
            <p:nvPr/>
          </p:nvSpPr>
          <p:spPr>
            <a:xfrm flipH="false" flipV="false" rot="0">
              <a:off x="0" y="0"/>
              <a:ext cx="38100" cy="6781800"/>
            </a:xfrm>
            <a:custGeom>
              <a:avLst/>
              <a:gdLst/>
              <a:ahLst/>
              <a:cxnLst/>
              <a:rect r="r" b="b" t="t" l="l"/>
              <a:pathLst>
                <a:path h="6781800" w="38100">
                  <a:moveTo>
                    <a:pt x="0" y="0"/>
                  </a:moveTo>
                  <a:lnTo>
                    <a:pt x="38100" y="0"/>
                  </a:lnTo>
                  <a:lnTo>
                    <a:pt x="38100" y="6781800"/>
                  </a:lnTo>
                  <a:lnTo>
                    <a:pt x="0" y="678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5875" y="9256395"/>
            <a:ext cx="19050" cy="207645"/>
            <a:chOff x="0" y="0"/>
            <a:chExt cx="25400" cy="2768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17320" y="9256395"/>
            <a:ext cx="19050" cy="207645"/>
            <a:chOff x="0" y="0"/>
            <a:chExt cx="25400" cy="2768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549718" y="9099232"/>
            <a:ext cx="19050" cy="349568"/>
            <a:chOff x="0" y="0"/>
            <a:chExt cx="25400" cy="4660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2700"/>
              <a:ext cx="25400" cy="440690"/>
            </a:xfrm>
            <a:custGeom>
              <a:avLst/>
              <a:gdLst/>
              <a:ahLst/>
              <a:cxnLst/>
              <a:rect r="r" b="b" t="t" l="l"/>
              <a:pathLst>
                <a:path h="440690" w="25400">
                  <a:moveTo>
                    <a:pt x="25400" y="0"/>
                  </a:moveTo>
                  <a:lnTo>
                    <a:pt x="25400" y="440690"/>
                  </a:lnTo>
                  <a:lnTo>
                    <a:pt x="0" y="440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81162" y="9256395"/>
            <a:ext cx="19050" cy="207645"/>
            <a:chOff x="0" y="0"/>
            <a:chExt cx="25400" cy="2768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813560" y="9256395"/>
            <a:ext cx="19050" cy="207645"/>
            <a:chOff x="0" y="0"/>
            <a:chExt cx="25400" cy="2768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3551872" y="2559367"/>
            <a:ext cx="4082415" cy="3303270"/>
            <a:chOff x="0" y="0"/>
            <a:chExt cx="5443220" cy="4404360"/>
          </a:xfrm>
        </p:grpSpPr>
        <p:sp>
          <p:nvSpPr>
            <p:cNvPr name="Freeform 17" id="17" descr="https://kimi-img.moonshot.cn/pub/slides/slides_tmpl/image/25-09-02-14:58:42-d2r9b8he3tpg8rchv2sg.png"/>
            <p:cNvSpPr/>
            <p:nvPr/>
          </p:nvSpPr>
          <p:spPr>
            <a:xfrm flipH="false" flipV="false" rot="0">
              <a:off x="0" y="0"/>
              <a:ext cx="5443220" cy="4404360"/>
            </a:xfrm>
            <a:custGeom>
              <a:avLst/>
              <a:gdLst/>
              <a:ahLst/>
              <a:cxnLst/>
              <a:rect r="r" b="b" t="t" l="l"/>
              <a:pathLst>
                <a:path h="4404360" w="5443220">
                  <a:moveTo>
                    <a:pt x="0" y="0"/>
                  </a:moveTo>
                  <a:lnTo>
                    <a:pt x="5443220" y="0"/>
                  </a:lnTo>
                  <a:lnTo>
                    <a:pt x="5443220" y="4404360"/>
                  </a:lnTo>
                  <a:lnTo>
                    <a:pt x="0" y="4404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772" r="0" b="-9772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7967662" y="2559367"/>
            <a:ext cx="4082415" cy="3303270"/>
            <a:chOff x="0" y="0"/>
            <a:chExt cx="5443220" cy="4404360"/>
          </a:xfrm>
        </p:grpSpPr>
        <p:sp>
          <p:nvSpPr>
            <p:cNvPr name="Freeform 19" id="19" descr="https://kimi-img.moonshot.cn/pub/slides/slides_tmpl/image/25-09-02-14:58:42-d2r9b8he3tpg8rchv2sg.png"/>
            <p:cNvSpPr/>
            <p:nvPr/>
          </p:nvSpPr>
          <p:spPr>
            <a:xfrm flipH="false" flipV="false" rot="0">
              <a:off x="0" y="0"/>
              <a:ext cx="5443220" cy="4404360"/>
            </a:xfrm>
            <a:custGeom>
              <a:avLst/>
              <a:gdLst/>
              <a:ahLst/>
              <a:cxnLst/>
              <a:rect r="r" b="b" t="t" l="l"/>
              <a:pathLst>
                <a:path h="4404360" w="5443220">
                  <a:moveTo>
                    <a:pt x="0" y="0"/>
                  </a:moveTo>
                  <a:lnTo>
                    <a:pt x="5443220" y="0"/>
                  </a:lnTo>
                  <a:lnTo>
                    <a:pt x="5443220" y="4404360"/>
                  </a:lnTo>
                  <a:lnTo>
                    <a:pt x="0" y="4404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772" r="0" b="-9772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2100560" y="2559367"/>
            <a:ext cx="4082415" cy="3302317"/>
            <a:chOff x="0" y="0"/>
            <a:chExt cx="5443220" cy="4403090"/>
          </a:xfrm>
        </p:grpSpPr>
        <p:sp>
          <p:nvSpPr>
            <p:cNvPr name="Freeform 21" id="21" descr="https://kimi-img.moonshot.cn/pub/slides/slides_tmpl/image/25-09-02-14:58:42-d2r9b8he3tpg8rchv2sg.png"/>
            <p:cNvSpPr/>
            <p:nvPr/>
          </p:nvSpPr>
          <p:spPr>
            <a:xfrm flipH="false" flipV="false" rot="0">
              <a:off x="0" y="0"/>
              <a:ext cx="5443220" cy="4403090"/>
            </a:xfrm>
            <a:custGeom>
              <a:avLst/>
              <a:gdLst/>
              <a:ahLst/>
              <a:cxnLst/>
              <a:rect r="r" b="b" t="t" l="l"/>
              <a:pathLst>
                <a:path h="4403090" w="5443220">
                  <a:moveTo>
                    <a:pt x="0" y="0"/>
                  </a:moveTo>
                  <a:lnTo>
                    <a:pt x="5443220" y="0"/>
                  </a:lnTo>
                  <a:lnTo>
                    <a:pt x="5443220" y="4403090"/>
                  </a:lnTo>
                  <a:lnTo>
                    <a:pt x="0" y="4403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789" r="0" b="-9789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3551872" y="5579745"/>
            <a:ext cx="4082415" cy="3303270"/>
            <a:chOff x="0" y="0"/>
            <a:chExt cx="5443220" cy="4404360"/>
          </a:xfrm>
        </p:grpSpPr>
        <p:sp>
          <p:nvSpPr>
            <p:cNvPr name="Freeform 23" id="23" descr="https://kimi-img.moonshot.cn/pub/slides/slides_tmpl/image/25-09-02-14:58:42-d2r9b8he3tpg8rchv2sg.png"/>
            <p:cNvSpPr/>
            <p:nvPr/>
          </p:nvSpPr>
          <p:spPr>
            <a:xfrm flipH="false" flipV="false" rot="0">
              <a:off x="0" y="0"/>
              <a:ext cx="5443220" cy="4404360"/>
            </a:xfrm>
            <a:custGeom>
              <a:avLst/>
              <a:gdLst/>
              <a:ahLst/>
              <a:cxnLst/>
              <a:rect r="r" b="b" t="t" l="l"/>
              <a:pathLst>
                <a:path h="4404360" w="5443220">
                  <a:moveTo>
                    <a:pt x="0" y="0"/>
                  </a:moveTo>
                  <a:lnTo>
                    <a:pt x="5443220" y="0"/>
                  </a:lnTo>
                  <a:lnTo>
                    <a:pt x="5443220" y="4404360"/>
                  </a:lnTo>
                  <a:lnTo>
                    <a:pt x="0" y="4404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772" r="0" b="-9772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7967662" y="5579745"/>
            <a:ext cx="4082415" cy="3303270"/>
            <a:chOff x="0" y="0"/>
            <a:chExt cx="5443220" cy="4404360"/>
          </a:xfrm>
        </p:grpSpPr>
        <p:sp>
          <p:nvSpPr>
            <p:cNvPr name="Freeform 25" id="25" descr="https://kimi-img.moonshot.cn/pub/slides/slides_tmpl/image/25-09-02-14:58:42-d2r9b8he3tpg8rchv2sg.png"/>
            <p:cNvSpPr/>
            <p:nvPr/>
          </p:nvSpPr>
          <p:spPr>
            <a:xfrm flipH="false" flipV="false" rot="0">
              <a:off x="0" y="0"/>
              <a:ext cx="5443220" cy="4404360"/>
            </a:xfrm>
            <a:custGeom>
              <a:avLst/>
              <a:gdLst/>
              <a:ahLst/>
              <a:cxnLst/>
              <a:rect r="r" b="b" t="t" l="l"/>
              <a:pathLst>
                <a:path h="4404360" w="5443220">
                  <a:moveTo>
                    <a:pt x="0" y="0"/>
                  </a:moveTo>
                  <a:lnTo>
                    <a:pt x="5443220" y="0"/>
                  </a:lnTo>
                  <a:lnTo>
                    <a:pt x="5443220" y="4404360"/>
                  </a:lnTo>
                  <a:lnTo>
                    <a:pt x="0" y="4404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772" r="0" b="-9772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2100560" y="5579745"/>
            <a:ext cx="4082415" cy="3302318"/>
            <a:chOff x="0" y="0"/>
            <a:chExt cx="5443220" cy="4403090"/>
          </a:xfrm>
        </p:grpSpPr>
        <p:sp>
          <p:nvSpPr>
            <p:cNvPr name="Freeform 27" id="27" descr="https://kimi-img.moonshot.cn/pub/slides/slides_tmpl/image/25-09-02-14:58:42-d2r9b8he3tpg8rchv2sg.png"/>
            <p:cNvSpPr/>
            <p:nvPr/>
          </p:nvSpPr>
          <p:spPr>
            <a:xfrm flipH="false" flipV="false" rot="0">
              <a:off x="0" y="0"/>
              <a:ext cx="5443220" cy="4403090"/>
            </a:xfrm>
            <a:custGeom>
              <a:avLst/>
              <a:gdLst/>
              <a:ahLst/>
              <a:cxnLst/>
              <a:rect r="r" b="b" t="t" l="l"/>
              <a:pathLst>
                <a:path h="4403090" w="5443220">
                  <a:moveTo>
                    <a:pt x="0" y="0"/>
                  </a:moveTo>
                  <a:lnTo>
                    <a:pt x="5443220" y="0"/>
                  </a:lnTo>
                  <a:lnTo>
                    <a:pt x="5443220" y="4403090"/>
                  </a:lnTo>
                  <a:lnTo>
                    <a:pt x="0" y="4403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789" r="0" b="-9789"/>
              </a:stretch>
            </a:blip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3735705" y="2559367"/>
            <a:ext cx="2953702" cy="145733"/>
            <a:chOff x="0" y="0"/>
            <a:chExt cx="3938270" cy="194310"/>
          </a:xfrm>
        </p:grpSpPr>
        <p:sp>
          <p:nvSpPr>
            <p:cNvPr name="Freeform 29" id="29" descr="https://kimi-img.moonshot.cn/pub/slides/slides_tmpl/image/25-09-02-14:58:42-d2r9b8he3tpg8rchv2rg.png"/>
            <p:cNvSpPr/>
            <p:nvPr/>
          </p:nvSpPr>
          <p:spPr>
            <a:xfrm flipH="false" flipV="false" rot="0">
              <a:off x="0" y="0"/>
              <a:ext cx="3938270" cy="194310"/>
            </a:xfrm>
            <a:custGeom>
              <a:avLst/>
              <a:gdLst/>
              <a:ahLst/>
              <a:cxnLst/>
              <a:rect r="r" b="b" t="t" l="l"/>
              <a:pathLst>
                <a:path h="194310" w="3938270">
                  <a:moveTo>
                    <a:pt x="0" y="0"/>
                  </a:moveTo>
                  <a:lnTo>
                    <a:pt x="3938270" y="0"/>
                  </a:lnTo>
                  <a:lnTo>
                    <a:pt x="3938270" y="194310"/>
                  </a:lnTo>
                  <a:lnTo>
                    <a:pt x="0" y="19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09" t="0" r="-709" b="0"/>
              </a:stretch>
            </a:blipFill>
          </p:spPr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8157210" y="2559367"/>
            <a:ext cx="2953702" cy="145733"/>
            <a:chOff x="0" y="0"/>
            <a:chExt cx="3938270" cy="194310"/>
          </a:xfrm>
        </p:grpSpPr>
        <p:sp>
          <p:nvSpPr>
            <p:cNvPr name="Freeform 31" id="31" descr="https://kimi-img.moonshot.cn/pub/slides/slides_tmpl/image/25-09-02-14:58:42-d2r9b8he3tpg8rchv2rg.png"/>
            <p:cNvSpPr/>
            <p:nvPr/>
          </p:nvSpPr>
          <p:spPr>
            <a:xfrm flipH="false" flipV="false" rot="0">
              <a:off x="0" y="0"/>
              <a:ext cx="3938270" cy="194310"/>
            </a:xfrm>
            <a:custGeom>
              <a:avLst/>
              <a:gdLst/>
              <a:ahLst/>
              <a:cxnLst/>
              <a:rect r="r" b="b" t="t" l="l"/>
              <a:pathLst>
                <a:path h="194310" w="3938270">
                  <a:moveTo>
                    <a:pt x="0" y="0"/>
                  </a:moveTo>
                  <a:lnTo>
                    <a:pt x="3938270" y="0"/>
                  </a:lnTo>
                  <a:lnTo>
                    <a:pt x="3938270" y="194310"/>
                  </a:lnTo>
                  <a:lnTo>
                    <a:pt x="0" y="19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09" t="0" r="-709" b="0"/>
              </a:stretch>
            </a:blip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12275820" y="2559367"/>
            <a:ext cx="2953703" cy="145733"/>
            <a:chOff x="0" y="0"/>
            <a:chExt cx="3938270" cy="194310"/>
          </a:xfrm>
        </p:grpSpPr>
        <p:sp>
          <p:nvSpPr>
            <p:cNvPr name="Freeform 33" id="33" descr="https://kimi-img.moonshot.cn/pub/slides/slides_tmpl/image/25-09-02-14:58:42-d2r9b8he3tpg8rchv2rg.png"/>
            <p:cNvSpPr/>
            <p:nvPr/>
          </p:nvSpPr>
          <p:spPr>
            <a:xfrm flipH="false" flipV="false" rot="0">
              <a:off x="0" y="0"/>
              <a:ext cx="3938270" cy="194310"/>
            </a:xfrm>
            <a:custGeom>
              <a:avLst/>
              <a:gdLst/>
              <a:ahLst/>
              <a:cxnLst/>
              <a:rect r="r" b="b" t="t" l="l"/>
              <a:pathLst>
                <a:path h="194310" w="3938270">
                  <a:moveTo>
                    <a:pt x="0" y="0"/>
                  </a:moveTo>
                  <a:lnTo>
                    <a:pt x="3938270" y="0"/>
                  </a:lnTo>
                  <a:lnTo>
                    <a:pt x="3938270" y="194310"/>
                  </a:lnTo>
                  <a:lnTo>
                    <a:pt x="0" y="19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09" t="0" r="-709" b="0"/>
              </a:stretch>
            </a:blipFill>
          </p:spPr>
        </p:sp>
      </p:grp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3735705" y="5579745"/>
            <a:ext cx="2953702" cy="145732"/>
            <a:chOff x="0" y="0"/>
            <a:chExt cx="3938270" cy="194310"/>
          </a:xfrm>
        </p:grpSpPr>
        <p:sp>
          <p:nvSpPr>
            <p:cNvPr name="Freeform 35" id="35" descr="https://kimi-img.moonshot.cn/pub/slides/slides_tmpl/image/25-09-02-14:58:42-d2r9b8he3tpg8rchv2rg.png"/>
            <p:cNvSpPr/>
            <p:nvPr/>
          </p:nvSpPr>
          <p:spPr>
            <a:xfrm flipH="false" flipV="false" rot="0">
              <a:off x="0" y="0"/>
              <a:ext cx="3938270" cy="194310"/>
            </a:xfrm>
            <a:custGeom>
              <a:avLst/>
              <a:gdLst/>
              <a:ahLst/>
              <a:cxnLst/>
              <a:rect r="r" b="b" t="t" l="l"/>
              <a:pathLst>
                <a:path h="194310" w="3938270">
                  <a:moveTo>
                    <a:pt x="0" y="0"/>
                  </a:moveTo>
                  <a:lnTo>
                    <a:pt x="3938270" y="0"/>
                  </a:lnTo>
                  <a:lnTo>
                    <a:pt x="3938270" y="194310"/>
                  </a:lnTo>
                  <a:lnTo>
                    <a:pt x="0" y="19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09" t="0" r="-709" b="0"/>
              </a:stretch>
            </a:blipFill>
          </p:spPr>
        </p:sp>
      </p:grpSp>
      <p:grpSp>
        <p:nvGrpSpPr>
          <p:cNvPr name="Group 36" id="36"/>
          <p:cNvGrpSpPr>
            <a:grpSpLocks noChangeAspect="true"/>
          </p:cNvGrpSpPr>
          <p:nvPr/>
        </p:nvGrpSpPr>
        <p:grpSpPr>
          <a:xfrm rot="0">
            <a:off x="8157210" y="5579745"/>
            <a:ext cx="2953702" cy="145732"/>
            <a:chOff x="0" y="0"/>
            <a:chExt cx="3938270" cy="194310"/>
          </a:xfrm>
        </p:grpSpPr>
        <p:sp>
          <p:nvSpPr>
            <p:cNvPr name="Freeform 37" id="37" descr="https://kimi-img.moonshot.cn/pub/slides/slides_tmpl/image/25-09-02-14:58:42-d2r9b8he3tpg8rchv2rg.png"/>
            <p:cNvSpPr/>
            <p:nvPr/>
          </p:nvSpPr>
          <p:spPr>
            <a:xfrm flipH="false" flipV="false" rot="0">
              <a:off x="0" y="0"/>
              <a:ext cx="3938270" cy="194310"/>
            </a:xfrm>
            <a:custGeom>
              <a:avLst/>
              <a:gdLst/>
              <a:ahLst/>
              <a:cxnLst/>
              <a:rect r="r" b="b" t="t" l="l"/>
              <a:pathLst>
                <a:path h="194310" w="3938270">
                  <a:moveTo>
                    <a:pt x="0" y="0"/>
                  </a:moveTo>
                  <a:lnTo>
                    <a:pt x="3938270" y="0"/>
                  </a:lnTo>
                  <a:lnTo>
                    <a:pt x="3938270" y="194310"/>
                  </a:lnTo>
                  <a:lnTo>
                    <a:pt x="0" y="19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09" t="0" r="-709" b="0"/>
              </a:stretch>
            </a:blipFill>
          </p:spPr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2275820" y="5579745"/>
            <a:ext cx="2953703" cy="145732"/>
            <a:chOff x="0" y="0"/>
            <a:chExt cx="3938270" cy="194310"/>
          </a:xfrm>
        </p:grpSpPr>
        <p:sp>
          <p:nvSpPr>
            <p:cNvPr name="Freeform 39" id="39" descr="https://kimi-img.moonshot.cn/pub/slides/slides_tmpl/image/25-09-02-14:58:42-d2r9b8he3tpg8rchv2rg.png"/>
            <p:cNvSpPr/>
            <p:nvPr/>
          </p:nvSpPr>
          <p:spPr>
            <a:xfrm flipH="false" flipV="false" rot="0">
              <a:off x="0" y="0"/>
              <a:ext cx="3938270" cy="194310"/>
            </a:xfrm>
            <a:custGeom>
              <a:avLst/>
              <a:gdLst/>
              <a:ahLst/>
              <a:cxnLst/>
              <a:rect r="r" b="b" t="t" l="l"/>
              <a:pathLst>
                <a:path h="194310" w="3938270">
                  <a:moveTo>
                    <a:pt x="0" y="0"/>
                  </a:moveTo>
                  <a:lnTo>
                    <a:pt x="3938270" y="0"/>
                  </a:lnTo>
                  <a:lnTo>
                    <a:pt x="3938270" y="194310"/>
                  </a:lnTo>
                  <a:lnTo>
                    <a:pt x="0" y="194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09" t="0" r="-709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84996" y="1112504"/>
            <a:ext cx="3775708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CONTENTS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610100" y="2783205"/>
            <a:ext cx="1251585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6"/>
              </a:lnSpc>
            </a:pPr>
            <a:r>
              <a:rPr lang="en-US" sz="48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678555" y="3712845"/>
            <a:ext cx="3750945" cy="119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Crisis &amp; The Cure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052560" y="2791778"/>
            <a:ext cx="1251585" cy="111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6"/>
              </a:lnSpc>
            </a:pPr>
            <a:r>
              <a:rPr lang="en-US" sz="48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042910" y="3712845"/>
            <a:ext cx="3750945" cy="136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Core Tech Deep Dive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137832" y="2783205"/>
            <a:ext cx="1251585" cy="111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6"/>
              </a:lnSpc>
            </a:pPr>
            <a:r>
              <a:rPr lang="en-US" sz="48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175807" y="3712845"/>
            <a:ext cx="3750945" cy="136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Hard Numbers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610100" y="5803582"/>
            <a:ext cx="1251585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6"/>
              </a:lnSpc>
            </a:pPr>
            <a:r>
              <a:rPr lang="en-US" sz="48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678555" y="6761797"/>
            <a:ext cx="3750945" cy="119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Deployment Choices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052560" y="5812155"/>
            <a:ext cx="1251585" cy="111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6"/>
              </a:lnSpc>
            </a:pPr>
            <a:r>
              <a:rPr lang="en-US" sz="48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042910" y="6761797"/>
            <a:ext cx="3750945" cy="1361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Partner Proof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137832" y="5803582"/>
            <a:ext cx="1251585" cy="111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6"/>
              </a:lnSpc>
            </a:pPr>
            <a:r>
              <a:rPr lang="en-US" sz="48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266295" y="6627019"/>
            <a:ext cx="3750945" cy="1208722"/>
            <a:chOff x="0" y="0"/>
            <a:chExt cx="5001260" cy="161163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001260" cy="1611630"/>
            </a:xfrm>
            <a:custGeom>
              <a:avLst/>
              <a:gdLst/>
              <a:ahLst/>
              <a:cxnLst/>
              <a:rect r="r" b="b" t="t" l="l"/>
              <a:pathLst>
                <a:path h="1611630" w="5001260">
                  <a:moveTo>
                    <a:pt x="0" y="0"/>
                  </a:moveTo>
                  <a:lnTo>
                    <a:pt x="5001260" y="0"/>
                  </a:lnTo>
                  <a:lnTo>
                    <a:pt x="5001260" y="1611630"/>
                  </a:lnTo>
                  <a:lnTo>
                    <a:pt x="0" y="1611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52400"/>
              <a:ext cx="500126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Q&amp;A</a:t>
              </a:r>
            </a:p>
          </p:txBody>
        </p:sp>
      </p:grpSp>
      <p:grpSp>
        <p:nvGrpSpPr>
          <p:cNvPr name="Group 55" id="55"/>
          <p:cNvGrpSpPr>
            <a:grpSpLocks noChangeAspect="true"/>
          </p:cNvGrpSpPr>
          <p:nvPr/>
        </p:nvGrpSpPr>
        <p:grpSpPr>
          <a:xfrm rot="0">
            <a:off x="15728632" y="0"/>
            <a:ext cx="2559368" cy="2559367"/>
            <a:chOff x="0" y="0"/>
            <a:chExt cx="3412490" cy="3412490"/>
          </a:xfrm>
        </p:grpSpPr>
        <p:sp>
          <p:nvSpPr>
            <p:cNvPr name="Freeform 56" id="56" descr="https://kimi-img.moonshot.cn/pub/slides/25-11-30-08:08:51-d4lom4q23rd0fah5d070.png"/>
            <p:cNvSpPr/>
            <p:nvPr/>
          </p:nvSpPr>
          <p:spPr>
            <a:xfrm flipH="false" flipV="false" rot="0">
              <a:off x="0" y="0"/>
              <a:ext cx="3412490" cy="3412490"/>
            </a:xfrm>
            <a:custGeom>
              <a:avLst/>
              <a:gdLst/>
              <a:ahLst/>
              <a:cxnLst/>
              <a:rect r="r" b="b" t="t" l="l"/>
              <a:pathLst>
                <a:path h="3412490" w="3412490">
                  <a:moveTo>
                    <a:pt x="0" y="0"/>
                  </a:moveTo>
                  <a:lnTo>
                    <a:pt x="3412490" y="0"/>
                  </a:lnTo>
                  <a:lnTo>
                    <a:pt x="3412490" y="3412490"/>
                  </a:lnTo>
                  <a:lnTo>
                    <a:pt x="0" y="341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5139"/>
            <a:ext cx="18287998" cy="10296939"/>
            <a:chOff x="0" y="0"/>
            <a:chExt cx="24383998" cy="13729252"/>
          </a:xfrm>
        </p:grpSpPr>
        <p:sp>
          <p:nvSpPr>
            <p:cNvPr name="Freeform 3" id="3" descr="https://kimi-img.moonshot.cn/pub/slides/slides_tmpl/image/25-09-02-14:58:48-d2r9ba1e3tpg8rchv35g.jpg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82" t="-59307" r="-44767" b="-1566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677478" y="5558790"/>
            <a:ext cx="13954125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Crisis &amp; The Cure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60056" y="9396582"/>
            <a:ext cx="19050" cy="207975"/>
            <a:chOff x="0" y="0"/>
            <a:chExt cx="25400" cy="277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92058" y="9396582"/>
            <a:ext cx="19050" cy="207975"/>
            <a:chOff x="0" y="0"/>
            <a:chExt cx="25400" cy="277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24058" y="9240009"/>
            <a:ext cx="19050" cy="349671"/>
            <a:chOff x="0" y="0"/>
            <a:chExt cx="25400" cy="4662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2700"/>
              <a:ext cx="25400" cy="440817"/>
            </a:xfrm>
            <a:custGeom>
              <a:avLst/>
              <a:gdLst/>
              <a:ahLst/>
              <a:cxnLst/>
              <a:rect r="r" b="b" t="t" l="l"/>
              <a:pathLst>
                <a:path h="440817" w="25400">
                  <a:moveTo>
                    <a:pt x="25400" y="0"/>
                  </a:moveTo>
                  <a:lnTo>
                    <a:pt x="25400" y="440817"/>
                  </a:lnTo>
                  <a:lnTo>
                    <a:pt x="0" y="4408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556059" y="9396582"/>
            <a:ext cx="19050" cy="207975"/>
            <a:chOff x="0" y="0"/>
            <a:chExt cx="25400" cy="277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688060" y="9396582"/>
            <a:ext cx="19050" cy="207975"/>
            <a:chOff x="0" y="0"/>
            <a:chExt cx="25400" cy="277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7651910" y="1761173"/>
            <a:ext cx="3426142" cy="381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24"/>
              </a:lnSpc>
            </a:pPr>
            <a:r>
              <a:rPr lang="en-US" sz="20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4768" y="-19050"/>
            <a:ext cx="18291206" cy="10298744"/>
            <a:chOff x="0" y="0"/>
            <a:chExt cx="24388274" cy="13731658"/>
          </a:xfrm>
        </p:grpSpPr>
        <p:sp>
          <p:nvSpPr>
            <p:cNvPr name="Freeform 3" id="3" descr="https://kimi-img.moonshot.cn/pub/slides/slides_tmpl/image/25-09-02-14:58:51-d2r9bape3tpg8rchv360.jpg"/>
            <p:cNvSpPr/>
            <p:nvPr/>
          </p:nvSpPr>
          <p:spPr>
            <a:xfrm flipH="false" flipV="false" rot="0">
              <a:off x="0" y="0"/>
              <a:ext cx="24388318" cy="13731621"/>
            </a:xfrm>
            <a:custGeom>
              <a:avLst/>
              <a:gdLst/>
              <a:ahLst/>
              <a:cxnLst/>
              <a:rect r="r" b="b" t="t" l="l"/>
              <a:pathLst>
                <a:path h="13731621" w="24388318">
                  <a:moveTo>
                    <a:pt x="0" y="0"/>
                  </a:moveTo>
                  <a:lnTo>
                    <a:pt x="24388318" y="0"/>
                  </a:lnTo>
                  <a:lnTo>
                    <a:pt x="24388318" y="13731621"/>
                  </a:lnTo>
                  <a:lnTo>
                    <a:pt x="0" y="13731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-31" b="-17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3301662" y="3074670"/>
            <a:ext cx="4063365" cy="6205538"/>
            <a:chOff x="0" y="0"/>
            <a:chExt cx="5417820" cy="8274050"/>
          </a:xfrm>
        </p:grpSpPr>
        <p:sp>
          <p:nvSpPr>
            <p:cNvPr name="Freeform 5" id="5" descr="https://kimi-img.moonshot.cn/pub/slides/slides_tmpl/image/25-09-02-14:58:52-d2r9bb1e3tpg8rchv3ag.png"/>
            <p:cNvSpPr/>
            <p:nvPr/>
          </p:nvSpPr>
          <p:spPr>
            <a:xfrm flipH="false" flipV="false" rot="0">
              <a:off x="0" y="0"/>
              <a:ext cx="5417820" cy="8274050"/>
            </a:xfrm>
            <a:custGeom>
              <a:avLst/>
              <a:gdLst/>
              <a:ahLst/>
              <a:cxnLst/>
              <a:rect r="r" b="b" t="t" l="l"/>
              <a:pathLst>
                <a:path h="8274050" w="5417820">
                  <a:moveTo>
                    <a:pt x="0" y="0"/>
                  </a:moveTo>
                  <a:lnTo>
                    <a:pt x="5417820" y="0"/>
                  </a:lnTo>
                  <a:lnTo>
                    <a:pt x="5417820" y="8274050"/>
                  </a:lnTo>
                  <a:lnTo>
                    <a:pt x="0" y="8274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77" t="0" r="-4677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062085" y="3074670"/>
            <a:ext cx="4063365" cy="6205538"/>
            <a:chOff x="0" y="0"/>
            <a:chExt cx="5417820" cy="8274050"/>
          </a:xfrm>
        </p:grpSpPr>
        <p:sp>
          <p:nvSpPr>
            <p:cNvPr name="Freeform 7" id="7" descr="https://kimi-img.moonshot.cn/pub/slides/slides_tmpl/image/25-09-02-14:58:52-d2r9bb1e3tpg8rchv3ag.png"/>
            <p:cNvSpPr/>
            <p:nvPr/>
          </p:nvSpPr>
          <p:spPr>
            <a:xfrm flipH="false" flipV="false" rot="0">
              <a:off x="0" y="0"/>
              <a:ext cx="5417820" cy="8274050"/>
            </a:xfrm>
            <a:custGeom>
              <a:avLst/>
              <a:gdLst/>
              <a:ahLst/>
              <a:cxnLst/>
              <a:rect r="r" b="b" t="t" l="l"/>
              <a:pathLst>
                <a:path h="8274050" w="5417820">
                  <a:moveTo>
                    <a:pt x="0" y="0"/>
                  </a:moveTo>
                  <a:lnTo>
                    <a:pt x="5417820" y="0"/>
                  </a:lnTo>
                  <a:lnTo>
                    <a:pt x="5417820" y="8274050"/>
                  </a:lnTo>
                  <a:lnTo>
                    <a:pt x="0" y="8274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77" t="0" r="-4677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4875847" y="3074670"/>
            <a:ext cx="4063365" cy="6205538"/>
            <a:chOff x="0" y="0"/>
            <a:chExt cx="5417820" cy="8274050"/>
          </a:xfrm>
        </p:grpSpPr>
        <p:sp>
          <p:nvSpPr>
            <p:cNvPr name="Freeform 9" id="9" descr="https://kimi-img.moonshot.cn/pub/slides/slides_tmpl/image/25-09-02-14:58:52-d2r9bb1e3tpg8rchv3ag.png"/>
            <p:cNvSpPr/>
            <p:nvPr/>
          </p:nvSpPr>
          <p:spPr>
            <a:xfrm flipH="false" flipV="false" rot="0">
              <a:off x="0" y="0"/>
              <a:ext cx="5417820" cy="8274050"/>
            </a:xfrm>
            <a:custGeom>
              <a:avLst/>
              <a:gdLst/>
              <a:ahLst/>
              <a:cxnLst/>
              <a:rect r="r" b="b" t="t" l="l"/>
              <a:pathLst>
                <a:path h="8274050" w="5417820">
                  <a:moveTo>
                    <a:pt x="0" y="0"/>
                  </a:moveTo>
                  <a:lnTo>
                    <a:pt x="5417820" y="0"/>
                  </a:lnTo>
                  <a:lnTo>
                    <a:pt x="5417820" y="8274050"/>
                  </a:lnTo>
                  <a:lnTo>
                    <a:pt x="0" y="8274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77" t="0" r="-4677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45795" y="3074670"/>
            <a:ext cx="4063365" cy="6205538"/>
            <a:chOff x="0" y="0"/>
            <a:chExt cx="5417820" cy="8274050"/>
          </a:xfrm>
        </p:grpSpPr>
        <p:sp>
          <p:nvSpPr>
            <p:cNvPr name="Freeform 11" id="11" descr="https://kimi-img.moonshot.cn/pub/slides/slides_tmpl/image/25-09-02-14:58:52-d2r9bb1e3tpg8rchv3ag.png"/>
            <p:cNvSpPr/>
            <p:nvPr/>
          </p:nvSpPr>
          <p:spPr>
            <a:xfrm flipH="false" flipV="false" rot="0">
              <a:off x="0" y="0"/>
              <a:ext cx="5417820" cy="8274050"/>
            </a:xfrm>
            <a:custGeom>
              <a:avLst/>
              <a:gdLst/>
              <a:ahLst/>
              <a:cxnLst/>
              <a:rect r="r" b="b" t="t" l="l"/>
              <a:pathLst>
                <a:path h="8274050" w="5417820">
                  <a:moveTo>
                    <a:pt x="0" y="0"/>
                  </a:moveTo>
                  <a:lnTo>
                    <a:pt x="5417820" y="0"/>
                  </a:lnTo>
                  <a:lnTo>
                    <a:pt x="5417820" y="8274050"/>
                  </a:lnTo>
                  <a:lnTo>
                    <a:pt x="0" y="8274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77" t="0" r="-4677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972264" y="1472772"/>
            <a:ext cx="116696" cy="108000"/>
            <a:chOff x="0" y="0"/>
            <a:chExt cx="155594" cy="14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6780002" y="1472772"/>
            <a:ext cx="116696" cy="108000"/>
            <a:chOff x="0" y="0"/>
            <a:chExt cx="155594" cy="14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583481" y="1472772"/>
            <a:ext cx="116696" cy="108000"/>
            <a:chOff x="0" y="0"/>
            <a:chExt cx="155594" cy="14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6386960" y="1472772"/>
            <a:ext cx="116696" cy="108000"/>
            <a:chOff x="0" y="0"/>
            <a:chExt cx="155594" cy="14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737235" y="555929"/>
            <a:ext cx="11683578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Air-Cooled Mining Is Bleeding Margin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2325530" y="2615565"/>
            <a:ext cx="956310" cy="928688"/>
            <a:chOff x="0" y="0"/>
            <a:chExt cx="1275080" cy="1238250"/>
          </a:xfrm>
        </p:grpSpPr>
        <p:sp>
          <p:nvSpPr>
            <p:cNvPr name="Freeform 22" id="22" descr="https://kimi-img.moonshot.cn/pub/slides/slides_tmpl/image/25-09-02-14:58:58-d2r9bche3tpg8rchv3og.png"/>
            <p:cNvSpPr/>
            <p:nvPr/>
          </p:nvSpPr>
          <p:spPr>
            <a:xfrm flipH="false" flipV="false" rot="0">
              <a:off x="0" y="0"/>
              <a:ext cx="1275080" cy="1238250"/>
            </a:xfrm>
            <a:custGeom>
              <a:avLst/>
              <a:gdLst/>
              <a:ahLst/>
              <a:cxnLst/>
              <a:rect r="r" b="b" t="t" l="l"/>
              <a:pathLst>
                <a:path h="1238250" w="1275080">
                  <a:moveTo>
                    <a:pt x="0" y="0"/>
                  </a:moveTo>
                  <a:lnTo>
                    <a:pt x="1275080" y="0"/>
                  </a:lnTo>
                  <a:lnTo>
                    <a:pt x="1275080" y="1238250"/>
                  </a:lnTo>
                  <a:lnTo>
                    <a:pt x="0" y="1238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4" t="0" r="-524" b="0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6555582" y="2615565"/>
            <a:ext cx="956310" cy="928688"/>
            <a:chOff x="0" y="0"/>
            <a:chExt cx="1275080" cy="1238250"/>
          </a:xfrm>
        </p:grpSpPr>
        <p:sp>
          <p:nvSpPr>
            <p:cNvPr name="Freeform 24" id="24" descr="https://kimi-img.moonshot.cn/pub/slides/slides_tmpl/image/25-09-02-14:58:58-d2r9bche3tpg8rchv3og.png"/>
            <p:cNvSpPr/>
            <p:nvPr/>
          </p:nvSpPr>
          <p:spPr>
            <a:xfrm flipH="false" flipV="false" rot="0">
              <a:off x="0" y="0"/>
              <a:ext cx="1275080" cy="1238250"/>
            </a:xfrm>
            <a:custGeom>
              <a:avLst/>
              <a:gdLst/>
              <a:ahLst/>
              <a:cxnLst/>
              <a:rect r="r" b="b" t="t" l="l"/>
              <a:pathLst>
                <a:path h="1238250" w="1275080">
                  <a:moveTo>
                    <a:pt x="0" y="0"/>
                  </a:moveTo>
                  <a:lnTo>
                    <a:pt x="1275080" y="0"/>
                  </a:lnTo>
                  <a:lnTo>
                    <a:pt x="1275080" y="1238250"/>
                  </a:lnTo>
                  <a:lnTo>
                    <a:pt x="0" y="1238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4" t="0" r="-524" b="0"/>
              </a:stretch>
            </a:blip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10741820" y="2615565"/>
            <a:ext cx="956310" cy="928688"/>
            <a:chOff x="0" y="0"/>
            <a:chExt cx="1275080" cy="1238250"/>
          </a:xfrm>
        </p:grpSpPr>
        <p:sp>
          <p:nvSpPr>
            <p:cNvPr name="Freeform 26" id="26" descr="https://kimi-img.moonshot.cn/pub/slides/slides_tmpl/image/25-09-02-14:58:58-d2r9bche3tpg8rchv3og.png"/>
            <p:cNvSpPr/>
            <p:nvPr/>
          </p:nvSpPr>
          <p:spPr>
            <a:xfrm flipH="false" flipV="false" rot="0">
              <a:off x="0" y="0"/>
              <a:ext cx="1275080" cy="1238250"/>
            </a:xfrm>
            <a:custGeom>
              <a:avLst/>
              <a:gdLst/>
              <a:ahLst/>
              <a:cxnLst/>
              <a:rect r="r" b="b" t="t" l="l"/>
              <a:pathLst>
                <a:path h="1238250" w="1275080">
                  <a:moveTo>
                    <a:pt x="0" y="0"/>
                  </a:moveTo>
                  <a:lnTo>
                    <a:pt x="1275080" y="0"/>
                  </a:lnTo>
                  <a:lnTo>
                    <a:pt x="1275080" y="1238250"/>
                  </a:lnTo>
                  <a:lnTo>
                    <a:pt x="0" y="1238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4" t="0" r="-524" b="0"/>
              </a:stretch>
            </a:blip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4981397" y="2615565"/>
            <a:ext cx="956310" cy="928688"/>
            <a:chOff x="0" y="0"/>
            <a:chExt cx="1275080" cy="1238250"/>
          </a:xfrm>
        </p:grpSpPr>
        <p:sp>
          <p:nvSpPr>
            <p:cNvPr name="Freeform 28" id="28" descr="https://kimi-img.moonshot.cn/pub/slides/slides_tmpl/image/25-09-02-14:58:58-d2r9bche3tpg8rchv3og.png"/>
            <p:cNvSpPr/>
            <p:nvPr/>
          </p:nvSpPr>
          <p:spPr>
            <a:xfrm flipH="false" flipV="false" rot="0">
              <a:off x="0" y="0"/>
              <a:ext cx="1275080" cy="1238250"/>
            </a:xfrm>
            <a:custGeom>
              <a:avLst/>
              <a:gdLst/>
              <a:ahLst/>
              <a:cxnLst/>
              <a:rect r="r" b="b" t="t" l="l"/>
              <a:pathLst>
                <a:path h="1238250" w="1275080">
                  <a:moveTo>
                    <a:pt x="0" y="0"/>
                  </a:moveTo>
                  <a:lnTo>
                    <a:pt x="1275080" y="0"/>
                  </a:lnTo>
                  <a:lnTo>
                    <a:pt x="1275080" y="1238250"/>
                  </a:lnTo>
                  <a:lnTo>
                    <a:pt x="0" y="1238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4" t="0" r="-524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2448878" y="2702242"/>
            <a:ext cx="709612" cy="663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36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1251" y="3738910"/>
            <a:ext cx="3130867" cy="89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Capacity Utilization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7235" y="4538371"/>
            <a:ext cx="3880485" cy="469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Legacy air-cooled mining operations struggle with only 67-70% capacity utilization, leading to significant revenue loss. Retrofitting with TerraHash Stack can transform this underperformance into high-efficiency operations.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678930" y="2702242"/>
            <a:ext cx="709612" cy="663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36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486661" y="3738910"/>
            <a:ext cx="3130867" cy="89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Seasonal Revenue Loss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967288" y="4551393"/>
            <a:ext cx="3880485" cy="4683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 hot climates, traditional mining faces 15-20% seasonal revenue loss due to poor thermal management. TerraHash Stack’s advanced cooling technology eliminates this issue, ensuring consistent performance year-round.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65168" y="2702242"/>
            <a:ext cx="709612" cy="663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36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77421" y="3738910"/>
            <a:ext cx="3130868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Downtime Costs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53525" y="4538371"/>
            <a:ext cx="3880485" cy="469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Unplanned downtime costs $50,000-$200,000 per megawatt per incident. TerraHash Stack’s 99%+ uptime guarantee mitigates these costly interruptions, safeguarding your mining operation’s profitability.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104745" y="2702242"/>
            <a:ext cx="709612" cy="663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36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875430" y="3738910"/>
            <a:ext cx="3130868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ASIC Lifespan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393102" y="4538371"/>
            <a:ext cx="3880485" cy="469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Constant thermal stress shortens ASIC lifespan from 50+ months to just 30-36 months. TerraHash Stack extends equipment life by 40%, reducing costly hardware replacements.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80010" y="0"/>
            <a:ext cx="18368010" cy="10296525"/>
            <a:chOff x="0" y="0"/>
            <a:chExt cx="24490680" cy="13728700"/>
          </a:xfrm>
        </p:grpSpPr>
        <p:sp>
          <p:nvSpPr>
            <p:cNvPr name="Freeform 3" id="3" descr="https://kimi-img.moonshot.cn/pub/slides/slides_tmpl/image/25-09-02-14:58:52-d2r9bb1e3tpg8rchv390.jpg"/>
            <p:cNvSpPr/>
            <p:nvPr/>
          </p:nvSpPr>
          <p:spPr>
            <a:xfrm flipH="false" flipV="false" rot="0">
              <a:off x="0" y="0"/>
              <a:ext cx="24490680" cy="13728700"/>
            </a:xfrm>
            <a:custGeom>
              <a:avLst/>
              <a:gdLst/>
              <a:ahLst/>
              <a:cxnLst/>
              <a:rect r="r" b="b" t="t" l="l"/>
              <a:pathLst>
                <a:path h="13728700" w="24490680">
                  <a:moveTo>
                    <a:pt x="0" y="0"/>
                  </a:moveTo>
                  <a:lnTo>
                    <a:pt x="24490680" y="0"/>
                  </a:lnTo>
                  <a:lnTo>
                    <a:pt x="24490680" y="13728700"/>
                  </a:lnTo>
                  <a:lnTo>
                    <a:pt x="0" y="137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7" r="0" b="-281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80962" y="0"/>
            <a:ext cx="14017943" cy="10287000"/>
            <a:chOff x="0" y="0"/>
            <a:chExt cx="18690590" cy="13716000"/>
          </a:xfrm>
        </p:grpSpPr>
        <p:sp>
          <p:nvSpPr>
            <p:cNvPr name="Freeform 5" id="5" descr="https://kimi-img.moonshot.cn/pub/slides/slides_tmpl/image/25-09-02-14:58:55-d2r9bbpe3tpg8rchv3ig.png"/>
            <p:cNvSpPr/>
            <p:nvPr/>
          </p:nvSpPr>
          <p:spPr>
            <a:xfrm flipH="false" flipV="false" rot="0">
              <a:off x="0" y="0"/>
              <a:ext cx="1869058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8690589">
                  <a:moveTo>
                    <a:pt x="0" y="0"/>
                  </a:moveTo>
                  <a:lnTo>
                    <a:pt x="18690589" y="0"/>
                  </a:lnTo>
                  <a:lnTo>
                    <a:pt x="18690589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569" t="0" r="-857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972264" y="1395620"/>
            <a:ext cx="116696" cy="108000"/>
            <a:chOff x="0" y="0"/>
            <a:chExt cx="155594" cy="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780002" y="1395620"/>
            <a:ext cx="116696" cy="108000"/>
            <a:chOff x="0" y="0"/>
            <a:chExt cx="155594" cy="14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583481" y="1395620"/>
            <a:ext cx="116696" cy="108000"/>
            <a:chOff x="0" y="0"/>
            <a:chExt cx="155594" cy="14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386960" y="1395620"/>
            <a:ext cx="116696" cy="108000"/>
            <a:chOff x="0" y="0"/>
            <a:chExt cx="155594" cy="14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04875" y="1178243"/>
            <a:ext cx="1555337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TerraHash Stack in One Glance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75157" y="3062288"/>
            <a:ext cx="886396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Integrated Retrofit Solution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55118" y="3430905"/>
            <a:ext cx="10222230" cy="14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TerraHash Stack is a comprehensive retrofit solution that transforms legacy mining infrastructure into a high-efficiency, AI-powered profit center with industry-leading performance improvements.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19938" y="6411278"/>
            <a:ext cx="886396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Core Technology Pillars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55118" y="6749415"/>
            <a:ext cx="10222230" cy="14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It integrates four core technologies: Chilldyne liquid cooling, BraiinsOS+ firmware, AI-powered operations, and automated treasury management, delivering rapid ROI and guaranteed uptime.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5139"/>
            <a:ext cx="18287998" cy="10296939"/>
            <a:chOff x="0" y="0"/>
            <a:chExt cx="24383998" cy="13729252"/>
          </a:xfrm>
        </p:grpSpPr>
        <p:sp>
          <p:nvSpPr>
            <p:cNvPr name="Freeform 3" id="3" descr="https://kimi-img.moonshot.cn/pub/slides/slides_tmpl/image/25-09-02-14:58:48-d2r9ba1e3tpg8rchv35g.jpg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82" t="-59307" r="-44767" b="-1566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677478" y="5558790"/>
            <a:ext cx="13954125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Core Tech Deep Dive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60056" y="9396582"/>
            <a:ext cx="19050" cy="207975"/>
            <a:chOff x="0" y="0"/>
            <a:chExt cx="25400" cy="277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92058" y="9396582"/>
            <a:ext cx="19050" cy="207975"/>
            <a:chOff x="0" y="0"/>
            <a:chExt cx="25400" cy="277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24058" y="9240009"/>
            <a:ext cx="19050" cy="349671"/>
            <a:chOff x="0" y="0"/>
            <a:chExt cx="25400" cy="4662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2700"/>
              <a:ext cx="25400" cy="440817"/>
            </a:xfrm>
            <a:custGeom>
              <a:avLst/>
              <a:gdLst/>
              <a:ahLst/>
              <a:cxnLst/>
              <a:rect r="r" b="b" t="t" l="l"/>
              <a:pathLst>
                <a:path h="440817" w="25400">
                  <a:moveTo>
                    <a:pt x="25400" y="0"/>
                  </a:moveTo>
                  <a:lnTo>
                    <a:pt x="25400" y="440817"/>
                  </a:lnTo>
                  <a:lnTo>
                    <a:pt x="0" y="4408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556059" y="9396582"/>
            <a:ext cx="19050" cy="207975"/>
            <a:chOff x="0" y="0"/>
            <a:chExt cx="25400" cy="277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688060" y="9396582"/>
            <a:ext cx="19050" cy="207975"/>
            <a:chOff x="0" y="0"/>
            <a:chExt cx="25400" cy="277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7651910" y="1761173"/>
            <a:ext cx="3426142" cy="381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24"/>
              </a:lnSpc>
            </a:pPr>
            <a:r>
              <a:rPr lang="en-US" sz="20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23715" y="0"/>
            <a:ext cx="18327118" cy="10318965"/>
            <a:chOff x="0" y="0"/>
            <a:chExt cx="24436158" cy="13758620"/>
          </a:xfrm>
        </p:grpSpPr>
        <p:sp>
          <p:nvSpPr>
            <p:cNvPr name="Freeform 3" id="3" descr="https://kimi-img.moonshot.cn/pub/slides/slides_tmpl/image/25-09-02-14:58:57-d2r9bc9e3tpg8rchv3mg.jpeg"/>
            <p:cNvSpPr/>
            <p:nvPr/>
          </p:nvSpPr>
          <p:spPr>
            <a:xfrm flipH="true" flipV="false" rot="0">
              <a:off x="0" y="0"/>
              <a:ext cx="24436197" cy="13758672"/>
            </a:xfrm>
            <a:custGeom>
              <a:avLst/>
              <a:gdLst/>
              <a:ahLst/>
              <a:cxnLst/>
              <a:rect r="r" b="b" t="t" l="l"/>
              <a:pathLst>
                <a:path h="13758672" w="24436197">
                  <a:moveTo>
                    <a:pt x="24436197" y="0"/>
                  </a:moveTo>
                  <a:lnTo>
                    <a:pt x="0" y="0"/>
                  </a:lnTo>
                  <a:lnTo>
                    <a:pt x="0" y="13758672"/>
                  </a:lnTo>
                  <a:lnTo>
                    <a:pt x="24436197" y="13758672"/>
                  </a:lnTo>
                  <a:lnTo>
                    <a:pt x="24436197" y="0"/>
                  </a:lnTo>
                  <a:close/>
                </a:path>
              </a:pathLst>
            </a:custGeom>
            <a:blipFill>
              <a:blip r:embed="rId3"/>
              <a:stretch>
                <a:fillRect l="-121825" t="-1956" r="-6055" b="-124784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23812" y="3276600"/>
            <a:ext cx="18288000" cy="1255395"/>
            <a:chOff x="0" y="0"/>
            <a:chExt cx="24384000" cy="1673860"/>
          </a:xfrm>
        </p:grpSpPr>
        <p:sp>
          <p:nvSpPr>
            <p:cNvPr name="Freeform 5" id="5" descr="https://kimi-img.moonshot.cn/pub/slides/slides_tmpl/image/25-09-02-14:58:54-d2r9bbhe3tpg8rchv3f0.png"/>
            <p:cNvSpPr/>
            <p:nvPr/>
          </p:nvSpPr>
          <p:spPr>
            <a:xfrm flipH="false" flipV="false" rot="0">
              <a:off x="0" y="0"/>
              <a:ext cx="24384000" cy="1673860"/>
            </a:xfrm>
            <a:custGeom>
              <a:avLst/>
              <a:gdLst/>
              <a:ahLst/>
              <a:cxnLst/>
              <a:rect r="r" b="b" t="t" l="l"/>
              <a:pathLst>
                <a:path h="16738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73860"/>
                  </a:lnTo>
                  <a:lnTo>
                    <a:pt x="0" y="1673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7" r="0" b="-14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972264" y="1472772"/>
            <a:ext cx="116696" cy="108000"/>
            <a:chOff x="0" y="0"/>
            <a:chExt cx="155594" cy="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780002" y="1472772"/>
            <a:ext cx="116696" cy="108000"/>
            <a:chOff x="0" y="0"/>
            <a:chExt cx="155594" cy="14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583481" y="1472772"/>
            <a:ext cx="116696" cy="108000"/>
            <a:chOff x="0" y="0"/>
            <a:chExt cx="155594" cy="14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386960" y="1472772"/>
            <a:ext cx="116696" cy="108000"/>
            <a:chOff x="0" y="0"/>
            <a:chExt cx="155594" cy="14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04875" y="1514475"/>
            <a:ext cx="14621828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Chilldyne Cooling: Hash More, Leak Never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360295" y="1138238"/>
            <a:ext cx="117158" cy="107633"/>
            <a:chOff x="0" y="0"/>
            <a:chExt cx="156210" cy="1435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167890" y="1138238"/>
            <a:ext cx="117158" cy="107633"/>
            <a:chOff x="0" y="0"/>
            <a:chExt cx="156210" cy="1435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970723" y="1138238"/>
            <a:ext cx="117158" cy="107633"/>
            <a:chOff x="0" y="0"/>
            <a:chExt cx="156210" cy="1435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774508" y="1138238"/>
            <a:ext cx="117158" cy="107633"/>
            <a:chOff x="0" y="0"/>
            <a:chExt cx="156210" cy="1435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994410" y="811530"/>
            <a:ext cx="533400" cy="457200"/>
            <a:chOff x="0" y="0"/>
            <a:chExt cx="711200" cy="609600"/>
          </a:xfrm>
        </p:grpSpPr>
        <p:sp>
          <p:nvSpPr>
            <p:cNvPr name="Freeform 24" id="24" descr="https://kimi-img.moonshot.cn/pub/slides/slides_tmpl/image/25-09-02-14:58:52-d2r9bb1e3tpg8rchv3bg.png"/>
            <p:cNvSpPr/>
            <p:nvPr/>
          </p:nvSpPr>
          <p:spPr>
            <a:xfrm flipH="true" flipV="true" rot="0">
              <a:off x="0" y="0"/>
              <a:ext cx="71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11200">
                  <a:moveTo>
                    <a:pt x="711200" y="609600"/>
                  </a:moveTo>
                  <a:lnTo>
                    <a:pt x="0" y="609600"/>
                  </a:lnTo>
                  <a:lnTo>
                    <a:pt x="0" y="0"/>
                  </a:lnTo>
                  <a:lnTo>
                    <a:pt x="711200" y="0"/>
                  </a:lnTo>
                  <a:lnTo>
                    <a:pt x="711200" y="609600"/>
                  </a:lnTo>
                  <a:close/>
                </a:path>
              </a:pathLst>
            </a:custGeom>
            <a:blipFill>
              <a:blip r:embed="rId5"/>
              <a:stretch>
                <a:fillRect l="0" t="-359" r="-65" b="-359"/>
              </a:stretch>
            </a:blip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2605088" y="3830003"/>
            <a:ext cx="1226820" cy="1226820"/>
            <a:chOff x="0" y="0"/>
            <a:chExt cx="1635760" cy="1635760"/>
          </a:xfrm>
        </p:grpSpPr>
        <p:sp>
          <p:nvSpPr>
            <p:cNvPr name="Freeform 26" id="26" descr="https://kimi-img.moonshot.cn/pub/slides/slides_tmpl/image/25-09-02-14:58:52-d2r9bb1e3tpg8rchv3a0.png"/>
            <p:cNvSpPr/>
            <p:nvPr/>
          </p:nvSpPr>
          <p:spPr>
            <a:xfrm flipH="false" flipV="false" rot="0">
              <a:off x="0" y="0"/>
              <a:ext cx="1635760" cy="1635760"/>
            </a:xfrm>
            <a:custGeom>
              <a:avLst/>
              <a:gdLst/>
              <a:ahLst/>
              <a:cxnLst/>
              <a:rect r="r" b="b" t="t" l="l"/>
              <a:pathLst>
                <a:path h="1635760" w="1635760">
                  <a:moveTo>
                    <a:pt x="0" y="0"/>
                  </a:moveTo>
                  <a:lnTo>
                    <a:pt x="1635760" y="0"/>
                  </a:lnTo>
                  <a:lnTo>
                    <a:pt x="1635760" y="1635760"/>
                  </a:lnTo>
                  <a:lnTo>
                    <a:pt x="0" y="163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8091488" y="2747010"/>
            <a:ext cx="1226820" cy="1207770"/>
            <a:chOff x="0" y="0"/>
            <a:chExt cx="1635760" cy="1610360"/>
          </a:xfrm>
        </p:grpSpPr>
        <p:sp>
          <p:nvSpPr>
            <p:cNvPr name="Freeform 28" id="28" descr="https://kimi-img.moonshot.cn/pub/slides/slides_tmpl/image/25-09-02-14:58:54-d2r9bbhe3tpg8rchv3eg.png"/>
            <p:cNvSpPr/>
            <p:nvPr/>
          </p:nvSpPr>
          <p:spPr>
            <a:xfrm flipH="false" flipV="false" rot="0">
              <a:off x="0" y="0"/>
              <a:ext cx="1635760" cy="1610360"/>
            </a:xfrm>
            <a:custGeom>
              <a:avLst/>
              <a:gdLst/>
              <a:ahLst/>
              <a:cxnLst/>
              <a:rect r="r" b="b" t="t" l="l"/>
              <a:pathLst>
                <a:path h="1610360" w="1635760">
                  <a:moveTo>
                    <a:pt x="0" y="0"/>
                  </a:moveTo>
                  <a:lnTo>
                    <a:pt x="1635760" y="0"/>
                  </a:lnTo>
                  <a:lnTo>
                    <a:pt x="1635760" y="1610360"/>
                  </a:lnTo>
                  <a:lnTo>
                    <a:pt x="0" y="1610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70" r="0" b="-270"/>
              </a:stretch>
            </a:blip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3958888" y="3830003"/>
            <a:ext cx="1226820" cy="1207770"/>
            <a:chOff x="0" y="0"/>
            <a:chExt cx="1635760" cy="1610360"/>
          </a:xfrm>
        </p:grpSpPr>
        <p:sp>
          <p:nvSpPr>
            <p:cNvPr name="Freeform 30" id="30" descr="https://kimi-img.moonshot.cn/pub/slides/slides_tmpl/image/25-09-02-14:58:54-d2r9bbhe3tpg8rchv3eg.png"/>
            <p:cNvSpPr/>
            <p:nvPr/>
          </p:nvSpPr>
          <p:spPr>
            <a:xfrm flipH="false" flipV="false" rot="0">
              <a:off x="0" y="0"/>
              <a:ext cx="1635760" cy="1610360"/>
            </a:xfrm>
            <a:custGeom>
              <a:avLst/>
              <a:gdLst/>
              <a:ahLst/>
              <a:cxnLst/>
              <a:rect r="r" b="b" t="t" l="l"/>
              <a:pathLst>
                <a:path h="1610360" w="1635760">
                  <a:moveTo>
                    <a:pt x="0" y="0"/>
                  </a:moveTo>
                  <a:lnTo>
                    <a:pt x="1635760" y="0"/>
                  </a:lnTo>
                  <a:lnTo>
                    <a:pt x="1635760" y="1610360"/>
                  </a:lnTo>
                  <a:lnTo>
                    <a:pt x="0" y="1610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70" r="0" b="-27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2747010" y="3917633"/>
            <a:ext cx="910590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6"/>
              </a:lnSpc>
            </a:pPr>
            <a:r>
              <a:rPr lang="en-US" sz="48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68680" y="5341620"/>
            <a:ext cx="5498782" cy="89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Negative-Pressure Liquid Cooling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04875" y="6154102"/>
            <a:ext cx="4907280" cy="2913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Chilldyne’s patented negative-pressure liquid cooling eliminates catastrophic coolant leak risks, ensuring safe and reliable operation. This technology enables 20% hashrate increases through safe overclocking.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233410" y="2827972"/>
            <a:ext cx="910590" cy="85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6"/>
              </a:lnSpc>
            </a:pPr>
            <a:r>
              <a:rPr lang="en-US" sz="48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382703" y="4216718"/>
            <a:ext cx="5498782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Thermal Management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387465" y="4702493"/>
            <a:ext cx="4907280" cy="3087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Superior thermal management drops chip temperatures by 30°C, extending ASIC lifespan by 40%. This thermal headroom translates into measurable hashrate and replacement-cycle savings.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100810" y="3910965"/>
            <a:ext cx="910590" cy="85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6"/>
              </a:lnSpc>
            </a:pPr>
            <a:r>
              <a:rPr lang="en-US" sz="48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704320" y="5313997"/>
            <a:ext cx="5498782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Energy Efficiency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709082" y="5780722"/>
            <a:ext cx="4907280" cy="268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By maintaining optimal temperatures, Chilldyne cooling significantly reduces energy consumption per terahash, contributing to overall operational cost savings.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96939"/>
            <a:chOff x="0" y="0"/>
            <a:chExt cx="24384000" cy="13729252"/>
          </a:xfrm>
        </p:grpSpPr>
        <p:sp>
          <p:nvSpPr>
            <p:cNvPr name="Freeform 3" id="3" descr="https://kimi-img.moonshot.cn/pub/slides/slides_tmpl/image/25-09-02-14:58:45-d2r9b99e3tpg8rchv2v0.jpg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-30" b="-16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139065" y="-953"/>
            <a:ext cx="18426112" cy="10376535"/>
            <a:chOff x="0" y="0"/>
            <a:chExt cx="24568150" cy="13835380"/>
          </a:xfrm>
        </p:grpSpPr>
        <p:sp>
          <p:nvSpPr>
            <p:cNvPr name="Freeform 5" id="5" descr="https://kimi-img.moonshot.cn/pub/slides/slides_tmpl/image/25-09-02-14:58:45-d2r9b99e3tpg8rchv30g.jpg"/>
            <p:cNvSpPr/>
            <p:nvPr/>
          </p:nvSpPr>
          <p:spPr>
            <a:xfrm flipH="false" flipV="false" rot="0">
              <a:off x="0" y="0"/>
              <a:ext cx="24568150" cy="13835380"/>
            </a:xfrm>
            <a:custGeom>
              <a:avLst/>
              <a:gdLst/>
              <a:ahLst/>
              <a:cxnLst/>
              <a:rect r="r" b="b" t="t" l="l"/>
              <a:pathLst>
                <a:path h="13835380" w="24568150">
                  <a:moveTo>
                    <a:pt x="0" y="0"/>
                  </a:moveTo>
                  <a:lnTo>
                    <a:pt x="24568150" y="0"/>
                  </a:lnTo>
                  <a:lnTo>
                    <a:pt x="24568150" y="13835380"/>
                  </a:lnTo>
                  <a:lnTo>
                    <a:pt x="0" y="13835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" r="-55" b="-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8685" y="4241482"/>
            <a:ext cx="7287578" cy="4524375"/>
            <a:chOff x="0" y="0"/>
            <a:chExt cx="9716770" cy="6032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16770" cy="6032500"/>
            </a:xfrm>
            <a:custGeom>
              <a:avLst/>
              <a:gdLst/>
              <a:ahLst/>
              <a:cxnLst/>
              <a:rect r="r" b="b" t="t" l="l"/>
              <a:pathLst>
                <a:path h="6032500" w="9716770">
                  <a:moveTo>
                    <a:pt x="0" y="0"/>
                  </a:moveTo>
                  <a:lnTo>
                    <a:pt x="9716770" y="0"/>
                  </a:lnTo>
                  <a:lnTo>
                    <a:pt x="9716770" y="6032500"/>
                  </a:lnTo>
                  <a:lnTo>
                    <a:pt x="0" y="603250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879241" y="0"/>
            <a:ext cx="15445408" cy="10296939"/>
            <a:chOff x="0" y="0"/>
            <a:chExt cx="20593878" cy="13729252"/>
          </a:xfrm>
        </p:grpSpPr>
        <p:sp>
          <p:nvSpPr>
            <p:cNvPr name="Freeform 9" id="9" descr="https://kimi-img.moonshot.cn/pub/slides/25-11-30-08:17:16-d4loq345rbsfsj109fo0.png"/>
            <p:cNvSpPr/>
            <p:nvPr/>
          </p:nvSpPr>
          <p:spPr>
            <a:xfrm flipH="false" flipV="false" rot="0">
              <a:off x="0" y="0"/>
              <a:ext cx="20593938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0593938">
                  <a:moveTo>
                    <a:pt x="0" y="0"/>
                  </a:moveTo>
                  <a:lnTo>
                    <a:pt x="20593938" y="0"/>
                  </a:lnTo>
                  <a:lnTo>
                    <a:pt x="20593938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87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77290" y="484293"/>
            <a:ext cx="16472535" cy="1020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BraiinsOS+ Unlocks Hidden Efficiency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177385" y="1008698"/>
            <a:ext cx="117157" cy="107632"/>
            <a:chOff x="0" y="0"/>
            <a:chExt cx="156210" cy="143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6980218" y="1010602"/>
            <a:ext cx="117157" cy="107632"/>
            <a:chOff x="0" y="0"/>
            <a:chExt cx="156210" cy="1435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787813" y="1008698"/>
            <a:ext cx="117157" cy="107632"/>
            <a:chOff x="0" y="0"/>
            <a:chExt cx="156210" cy="1435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6591598" y="1008698"/>
            <a:ext cx="117157" cy="107632"/>
            <a:chOff x="0" y="0"/>
            <a:chExt cx="156210" cy="1435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85850" y="4663440"/>
            <a:ext cx="1371981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Per-Chip Autotuning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8235" y="5291137"/>
            <a:ext cx="12828270" cy="309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BraiinsOS+ delivers 8-15% improvement in J/TH efficiency through per-chip autotuning, unlocking the full potential of your hardware without vendor lock-in. This open-source firmware provides transparent performance metrics.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4768" y="-19050"/>
            <a:ext cx="18291206" cy="10298744"/>
            <a:chOff x="0" y="0"/>
            <a:chExt cx="24388274" cy="13731658"/>
          </a:xfrm>
        </p:grpSpPr>
        <p:sp>
          <p:nvSpPr>
            <p:cNvPr name="Freeform 3" id="3" descr="https://kimi-img.moonshot.cn/pub/slides/slides_tmpl/image/25-09-02-14:58:51-d2r9bape3tpg8rchv360.jpg"/>
            <p:cNvSpPr/>
            <p:nvPr/>
          </p:nvSpPr>
          <p:spPr>
            <a:xfrm flipH="false" flipV="false" rot="0">
              <a:off x="0" y="0"/>
              <a:ext cx="24388318" cy="13731621"/>
            </a:xfrm>
            <a:custGeom>
              <a:avLst/>
              <a:gdLst/>
              <a:ahLst/>
              <a:cxnLst/>
              <a:rect r="r" b="b" t="t" l="l"/>
              <a:pathLst>
                <a:path h="13731621" w="24388318">
                  <a:moveTo>
                    <a:pt x="0" y="0"/>
                  </a:moveTo>
                  <a:lnTo>
                    <a:pt x="24388318" y="0"/>
                  </a:lnTo>
                  <a:lnTo>
                    <a:pt x="24388318" y="13731621"/>
                  </a:lnTo>
                  <a:lnTo>
                    <a:pt x="0" y="13731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-31" b="-17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468630" y="2190750"/>
            <a:ext cx="16504920" cy="2710815"/>
            <a:chOff x="0" y="0"/>
            <a:chExt cx="22006560" cy="3614420"/>
          </a:xfrm>
        </p:grpSpPr>
        <p:sp>
          <p:nvSpPr>
            <p:cNvPr name="Freeform 5" id="5" descr="https://kimi-img.moonshot.cn/pub/slides/slides_tmpl/image/25-09-02-14:58:55-d2r9bbpe3tpg8rchv3jg.png"/>
            <p:cNvSpPr/>
            <p:nvPr/>
          </p:nvSpPr>
          <p:spPr>
            <a:xfrm flipH="false" flipV="false" rot="0">
              <a:off x="0" y="0"/>
              <a:ext cx="22006561" cy="3614420"/>
            </a:xfrm>
            <a:custGeom>
              <a:avLst/>
              <a:gdLst/>
              <a:ahLst/>
              <a:cxnLst/>
              <a:rect r="r" b="b" t="t" l="l"/>
              <a:pathLst>
                <a:path h="3614420" w="22006561">
                  <a:moveTo>
                    <a:pt x="0" y="0"/>
                  </a:moveTo>
                  <a:lnTo>
                    <a:pt x="22006561" y="0"/>
                  </a:lnTo>
                  <a:lnTo>
                    <a:pt x="22006561" y="3614420"/>
                  </a:lnTo>
                  <a:lnTo>
                    <a:pt x="0" y="3614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5" t="0" r="-10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029748" y="1396365"/>
            <a:ext cx="117157" cy="107633"/>
            <a:chOff x="0" y="0"/>
            <a:chExt cx="156210" cy="1435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837342" y="1396365"/>
            <a:ext cx="117157" cy="107633"/>
            <a:chOff x="0" y="0"/>
            <a:chExt cx="156210" cy="1435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640175" y="1396365"/>
            <a:ext cx="117157" cy="107633"/>
            <a:chOff x="0" y="0"/>
            <a:chExt cx="156210" cy="143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443960" y="1396365"/>
            <a:ext cx="117157" cy="107633"/>
            <a:chOff x="0" y="0"/>
            <a:chExt cx="156210" cy="1435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04762" y="1082777"/>
            <a:ext cx="12046436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AI Ops &amp; Treasury: Profit on Autopilot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023194" y="4228689"/>
            <a:ext cx="975987" cy="975984"/>
            <a:chOff x="0" y="0"/>
            <a:chExt cx="1301316" cy="13013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1275842" cy="1275842"/>
            </a:xfrm>
            <a:custGeom>
              <a:avLst/>
              <a:gdLst/>
              <a:ahLst/>
              <a:cxnLst/>
              <a:rect r="r" b="b" t="t" l="l"/>
              <a:pathLst>
                <a:path h="1275842" w="1275842">
                  <a:moveTo>
                    <a:pt x="0" y="637921"/>
                  </a:moveTo>
                  <a:cubicBezTo>
                    <a:pt x="0" y="285623"/>
                    <a:pt x="285623" y="0"/>
                    <a:pt x="637921" y="0"/>
                  </a:cubicBezTo>
                  <a:cubicBezTo>
                    <a:pt x="990219" y="0"/>
                    <a:pt x="1275842" y="285623"/>
                    <a:pt x="1275842" y="637921"/>
                  </a:cubicBezTo>
                  <a:cubicBezTo>
                    <a:pt x="1275842" y="990219"/>
                    <a:pt x="990219" y="1275842"/>
                    <a:pt x="637921" y="1275842"/>
                  </a:cubicBezTo>
                  <a:cubicBezTo>
                    <a:pt x="285623" y="1275842"/>
                    <a:pt x="0" y="990346"/>
                    <a:pt x="0" y="63792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54412">
                    <a:alpha val="100000"/>
                  </a:srgbClr>
                </a:gs>
                <a:gs pos="10000">
                  <a:srgbClr val="754412">
                    <a:alpha val="100000"/>
                  </a:srgbClr>
                </a:gs>
                <a:gs pos="85000">
                  <a:srgbClr val="F5C166">
                    <a:alpha val="100000"/>
                  </a:srgbClr>
                </a:gs>
                <a:gs pos="100000">
                  <a:srgbClr val="E2AA62">
                    <a:alpha val="100000"/>
                  </a:srgbClr>
                </a:gs>
              </a:gsLst>
              <a:lin ang="2700005"/>
            </a:gra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01242" cy="1301242"/>
            </a:xfrm>
            <a:custGeom>
              <a:avLst/>
              <a:gdLst/>
              <a:ahLst/>
              <a:cxnLst/>
              <a:rect r="r" b="b" t="t" l="l"/>
              <a:pathLst>
                <a:path h="1301242" w="1301242">
                  <a:moveTo>
                    <a:pt x="0" y="650621"/>
                  </a:moveTo>
                  <a:cubicBezTo>
                    <a:pt x="0" y="291338"/>
                    <a:pt x="291338" y="0"/>
                    <a:pt x="650621" y="0"/>
                  </a:cubicBezTo>
                  <a:lnTo>
                    <a:pt x="650621" y="12700"/>
                  </a:lnTo>
                  <a:lnTo>
                    <a:pt x="650621" y="0"/>
                  </a:lnTo>
                  <a:cubicBezTo>
                    <a:pt x="1010031" y="0"/>
                    <a:pt x="1301242" y="291338"/>
                    <a:pt x="1301242" y="650621"/>
                  </a:cubicBezTo>
                  <a:lnTo>
                    <a:pt x="1288542" y="650621"/>
                  </a:lnTo>
                  <a:lnTo>
                    <a:pt x="1301242" y="650621"/>
                  </a:lnTo>
                  <a:cubicBezTo>
                    <a:pt x="1301242" y="1010031"/>
                    <a:pt x="1009904" y="1301242"/>
                    <a:pt x="650621" y="1301242"/>
                  </a:cubicBezTo>
                  <a:lnTo>
                    <a:pt x="650621" y="1288542"/>
                  </a:lnTo>
                  <a:lnTo>
                    <a:pt x="650621" y="1301242"/>
                  </a:lnTo>
                  <a:cubicBezTo>
                    <a:pt x="291338" y="1301369"/>
                    <a:pt x="0" y="1010031"/>
                    <a:pt x="0" y="650621"/>
                  </a:cubicBezTo>
                  <a:lnTo>
                    <a:pt x="12700" y="650621"/>
                  </a:lnTo>
                  <a:lnTo>
                    <a:pt x="25400" y="650621"/>
                  </a:lnTo>
                  <a:lnTo>
                    <a:pt x="12700" y="650621"/>
                  </a:lnTo>
                  <a:lnTo>
                    <a:pt x="0" y="650621"/>
                  </a:lnTo>
                  <a:moveTo>
                    <a:pt x="25400" y="650621"/>
                  </a:moveTo>
                  <a:cubicBezTo>
                    <a:pt x="25400" y="657606"/>
                    <a:pt x="19685" y="663321"/>
                    <a:pt x="12700" y="663321"/>
                  </a:cubicBezTo>
                  <a:cubicBezTo>
                    <a:pt x="5715" y="663321"/>
                    <a:pt x="0" y="657606"/>
                    <a:pt x="0" y="650621"/>
                  </a:cubicBezTo>
                  <a:cubicBezTo>
                    <a:pt x="0" y="643636"/>
                    <a:pt x="5715" y="637921"/>
                    <a:pt x="12700" y="637921"/>
                  </a:cubicBezTo>
                  <a:cubicBezTo>
                    <a:pt x="19685" y="637921"/>
                    <a:pt x="25400" y="643636"/>
                    <a:pt x="25400" y="650621"/>
                  </a:cubicBezTo>
                  <a:cubicBezTo>
                    <a:pt x="25400" y="995934"/>
                    <a:pt x="305308" y="1275842"/>
                    <a:pt x="650621" y="1275842"/>
                  </a:cubicBezTo>
                  <a:cubicBezTo>
                    <a:pt x="995934" y="1275842"/>
                    <a:pt x="1275842" y="995934"/>
                    <a:pt x="1275842" y="650621"/>
                  </a:cubicBezTo>
                  <a:cubicBezTo>
                    <a:pt x="1275842" y="305308"/>
                    <a:pt x="995934" y="25400"/>
                    <a:pt x="650621" y="25400"/>
                  </a:cubicBezTo>
                  <a:lnTo>
                    <a:pt x="650621" y="12700"/>
                  </a:lnTo>
                  <a:lnTo>
                    <a:pt x="650621" y="25400"/>
                  </a:lnTo>
                  <a:cubicBezTo>
                    <a:pt x="305308" y="25400"/>
                    <a:pt x="25400" y="305308"/>
                    <a:pt x="25400" y="650621"/>
                  </a:cubicBezTo>
                  <a:close/>
                </a:path>
              </a:pathLst>
            </a:custGeom>
            <a:solidFill>
              <a:srgbClr val="FBE19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707714" y="2631346"/>
            <a:ext cx="975987" cy="975984"/>
            <a:chOff x="0" y="0"/>
            <a:chExt cx="1301316" cy="13013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2700"/>
              <a:ext cx="1275842" cy="1275842"/>
            </a:xfrm>
            <a:custGeom>
              <a:avLst/>
              <a:gdLst/>
              <a:ahLst/>
              <a:cxnLst/>
              <a:rect r="r" b="b" t="t" l="l"/>
              <a:pathLst>
                <a:path h="1275842" w="1275842">
                  <a:moveTo>
                    <a:pt x="0" y="637921"/>
                  </a:moveTo>
                  <a:cubicBezTo>
                    <a:pt x="0" y="285623"/>
                    <a:pt x="285623" y="0"/>
                    <a:pt x="637921" y="0"/>
                  </a:cubicBezTo>
                  <a:cubicBezTo>
                    <a:pt x="990219" y="0"/>
                    <a:pt x="1275842" y="285623"/>
                    <a:pt x="1275842" y="637921"/>
                  </a:cubicBezTo>
                  <a:cubicBezTo>
                    <a:pt x="1275842" y="990219"/>
                    <a:pt x="990219" y="1275842"/>
                    <a:pt x="637921" y="1275842"/>
                  </a:cubicBezTo>
                  <a:cubicBezTo>
                    <a:pt x="285623" y="1275842"/>
                    <a:pt x="0" y="990346"/>
                    <a:pt x="0" y="63792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54412">
                    <a:alpha val="100000"/>
                  </a:srgbClr>
                </a:gs>
                <a:gs pos="10000">
                  <a:srgbClr val="754412">
                    <a:alpha val="100000"/>
                  </a:srgbClr>
                </a:gs>
                <a:gs pos="85000">
                  <a:srgbClr val="F5C166">
                    <a:alpha val="100000"/>
                  </a:srgbClr>
                </a:gs>
                <a:gs pos="100000">
                  <a:srgbClr val="E2AA62">
                    <a:alpha val="100000"/>
                  </a:srgbClr>
                </a:gs>
              </a:gsLst>
              <a:lin ang="2700005"/>
            </a:gra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1242" cy="1301242"/>
            </a:xfrm>
            <a:custGeom>
              <a:avLst/>
              <a:gdLst/>
              <a:ahLst/>
              <a:cxnLst/>
              <a:rect r="r" b="b" t="t" l="l"/>
              <a:pathLst>
                <a:path h="1301242" w="1301242">
                  <a:moveTo>
                    <a:pt x="0" y="650621"/>
                  </a:moveTo>
                  <a:cubicBezTo>
                    <a:pt x="0" y="291338"/>
                    <a:pt x="291338" y="0"/>
                    <a:pt x="650621" y="0"/>
                  </a:cubicBezTo>
                  <a:lnTo>
                    <a:pt x="650621" y="12700"/>
                  </a:lnTo>
                  <a:lnTo>
                    <a:pt x="650621" y="0"/>
                  </a:lnTo>
                  <a:cubicBezTo>
                    <a:pt x="1010031" y="0"/>
                    <a:pt x="1301242" y="291338"/>
                    <a:pt x="1301242" y="650621"/>
                  </a:cubicBezTo>
                  <a:lnTo>
                    <a:pt x="1288542" y="650621"/>
                  </a:lnTo>
                  <a:lnTo>
                    <a:pt x="1301242" y="650621"/>
                  </a:lnTo>
                  <a:cubicBezTo>
                    <a:pt x="1301242" y="1010031"/>
                    <a:pt x="1009904" y="1301242"/>
                    <a:pt x="650621" y="1301242"/>
                  </a:cubicBezTo>
                  <a:lnTo>
                    <a:pt x="650621" y="1288542"/>
                  </a:lnTo>
                  <a:lnTo>
                    <a:pt x="650621" y="1301242"/>
                  </a:lnTo>
                  <a:cubicBezTo>
                    <a:pt x="291338" y="1301369"/>
                    <a:pt x="0" y="1010031"/>
                    <a:pt x="0" y="650621"/>
                  </a:cubicBezTo>
                  <a:lnTo>
                    <a:pt x="12700" y="650621"/>
                  </a:lnTo>
                  <a:lnTo>
                    <a:pt x="25400" y="650621"/>
                  </a:lnTo>
                  <a:lnTo>
                    <a:pt x="12700" y="650621"/>
                  </a:lnTo>
                  <a:lnTo>
                    <a:pt x="0" y="650621"/>
                  </a:lnTo>
                  <a:moveTo>
                    <a:pt x="25400" y="650621"/>
                  </a:moveTo>
                  <a:cubicBezTo>
                    <a:pt x="25400" y="657606"/>
                    <a:pt x="19685" y="663321"/>
                    <a:pt x="12700" y="663321"/>
                  </a:cubicBezTo>
                  <a:cubicBezTo>
                    <a:pt x="5715" y="663321"/>
                    <a:pt x="0" y="657606"/>
                    <a:pt x="0" y="650621"/>
                  </a:cubicBezTo>
                  <a:cubicBezTo>
                    <a:pt x="0" y="643636"/>
                    <a:pt x="5715" y="637921"/>
                    <a:pt x="12700" y="637921"/>
                  </a:cubicBezTo>
                  <a:cubicBezTo>
                    <a:pt x="19685" y="637921"/>
                    <a:pt x="25400" y="643636"/>
                    <a:pt x="25400" y="650621"/>
                  </a:cubicBezTo>
                  <a:cubicBezTo>
                    <a:pt x="25400" y="995934"/>
                    <a:pt x="305308" y="1275842"/>
                    <a:pt x="650621" y="1275842"/>
                  </a:cubicBezTo>
                  <a:cubicBezTo>
                    <a:pt x="995934" y="1275842"/>
                    <a:pt x="1275842" y="995934"/>
                    <a:pt x="1275842" y="650621"/>
                  </a:cubicBezTo>
                  <a:cubicBezTo>
                    <a:pt x="1275842" y="305308"/>
                    <a:pt x="995934" y="25400"/>
                    <a:pt x="650621" y="25400"/>
                  </a:cubicBezTo>
                  <a:lnTo>
                    <a:pt x="650621" y="12700"/>
                  </a:lnTo>
                  <a:lnTo>
                    <a:pt x="650621" y="25400"/>
                  </a:lnTo>
                  <a:cubicBezTo>
                    <a:pt x="305308" y="25400"/>
                    <a:pt x="25400" y="305308"/>
                    <a:pt x="25400" y="650621"/>
                  </a:cubicBezTo>
                  <a:close/>
                </a:path>
              </a:pathLst>
            </a:custGeom>
            <a:solidFill>
              <a:srgbClr val="FBE19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4092197" y="1718852"/>
            <a:ext cx="975987" cy="975984"/>
            <a:chOff x="0" y="0"/>
            <a:chExt cx="1301316" cy="13013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1275842" cy="1275842"/>
            </a:xfrm>
            <a:custGeom>
              <a:avLst/>
              <a:gdLst/>
              <a:ahLst/>
              <a:cxnLst/>
              <a:rect r="r" b="b" t="t" l="l"/>
              <a:pathLst>
                <a:path h="1275842" w="1275842">
                  <a:moveTo>
                    <a:pt x="0" y="637921"/>
                  </a:moveTo>
                  <a:cubicBezTo>
                    <a:pt x="0" y="285623"/>
                    <a:pt x="285623" y="0"/>
                    <a:pt x="637921" y="0"/>
                  </a:cubicBezTo>
                  <a:cubicBezTo>
                    <a:pt x="990219" y="0"/>
                    <a:pt x="1275842" y="285623"/>
                    <a:pt x="1275842" y="637921"/>
                  </a:cubicBezTo>
                  <a:cubicBezTo>
                    <a:pt x="1275842" y="990219"/>
                    <a:pt x="990219" y="1275842"/>
                    <a:pt x="637921" y="1275842"/>
                  </a:cubicBezTo>
                  <a:cubicBezTo>
                    <a:pt x="285623" y="1275842"/>
                    <a:pt x="0" y="990346"/>
                    <a:pt x="0" y="63792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54412">
                    <a:alpha val="100000"/>
                  </a:srgbClr>
                </a:gs>
                <a:gs pos="10000">
                  <a:srgbClr val="754412">
                    <a:alpha val="100000"/>
                  </a:srgbClr>
                </a:gs>
                <a:gs pos="85000">
                  <a:srgbClr val="F5C166">
                    <a:alpha val="100000"/>
                  </a:srgbClr>
                </a:gs>
                <a:gs pos="100000">
                  <a:srgbClr val="E2AA62">
                    <a:alpha val="100000"/>
                  </a:srgbClr>
                </a:gs>
              </a:gsLst>
              <a:lin ang="2700005"/>
            </a:gra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01242" cy="1301242"/>
            </a:xfrm>
            <a:custGeom>
              <a:avLst/>
              <a:gdLst/>
              <a:ahLst/>
              <a:cxnLst/>
              <a:rect r="r" b="b" t="t" l="l"/>
              <a:pathLst>
                <a:path h="1301242" w="1301242">
                  <a:moveTo>
                    <a:pt x="0" y="650621"/>
                  </a:moveTo>
                  <a:cubicBezTo>
                    <a:pt x="0" y="291338"/>
                    <a:pt x="291338" y="0"/>
                    <a:pt x="650621" y="0"/>
                  </a:cubicBezTo>
                  <a:lnTo>
                    <a:pt x="650621" y="12700"/>
                  </a:lnTo>
                  <a:lnTo>
                    <a:pt x="650621" y="0"/>
                  </a:lnTo>
                  <a:cubicBezTo>
                    <a:pt x="1010031" y="0"/>
                    <a:pt x="1301242" y="291338"/>
                    <a:pt x="1301242" y="650621"/>
                  </a:cubicBezTo>
                  <a:lnTo>
                    <a:pt x="1288542" y="650621"/>
                  </a:lnTo>
                  <a:lnTo>
                    <a:pt x="1301242" y="650621"/>
                  </a:lnTo>
                  <a:cubicBezTo>
                    <a:pt x="1301242" y="1010031"/>
                    <a:pt x="1009904" y="1301242"/>
                    <a:pt x="650621" y="1301242"/>
                  </a:cubicBezTo>
                  <a:lnTo>
                    <a:pt x="650621" y="1288542"/>
                  </a:lnTo>
                  <a:lnTo>
                    <a:pt x="650621" y="1301242"/>
                  </a:lnTo>
                  <a:cubicBezTo>
                    <a:pt x="291338" y="1301369"/>
                    <a:pt x="0" y="1010031"/>
                    <a:pt x="0" y="650621"/>
                  </a:cubicBezTo>
                  <a:lnTo>
                    <a:pt x="12700" y="650621"/>
                  </a:lnTo>
                  <a:lnTo>
                    <a:pt x="25400" y="650621"/>
                  </a:lnTo>
                  <a:lnTo>
                    <a:pt x="12700" y="650621"/>
                  </a:lnTo>
                  <a:lnTo>
                    <a:pt x="0" y="650621"/>
                  </a:lnTo>
                  <a:moveTo>
                    <a:pt x="25400" y="650621"/>
                  </a:moveTo>
                  <a:cubicBezTo>
                    <a:pt x="25400" y="657606"/>
                    <a:pt x="19685" y="663321"/>
                    <a:pt x="12700" y="663321"/>
                  </a:cubicBezTo>
                  <a:cubicBezTo>
                    <a:pt x="5715" y="663321"/>
                    <a:pt x="0" y="657606"/>
                    <a:pt x="0" y="650621"/>
                  </a:cubicBezTo>
                  <a:cubicBezTo>
                    <a:pt x="0" y="643636"/>
                    <a:pt x="5715" y="637921"/>
                    <a:pt x="12700" y="637921"/>
                  </a:cubicBezTo>
                  <a:cubicBezTo>
                    <a:pt x="19685" y="637921"/>
                    <a:pt x="25400" y="643636"/>
                    <a:pt x="25400" y="650621"/>
                  </a:cubicBezTo>
                  <a:cubicBezTo>
                    <a:pt x="25400" y="995934"/>
                    <a:pt x="305308" y="1275842"/>
                    <a:pt x="650621" y="1275842"/>
                  </a:cubicBezTo>
                  <a:cubicBezTo>
                    <a:pt x="995934" y="1275842"/>
                    <a:pt x="1275842" y="995934"/>
                    <a:pt x="1275842" y="650621"/>
                  </a:cubicBezTo>
                  <a:cubicBezTo>
                    <a:pt x="1275842" y="305308"/>
                    <a:pt x="995934" y="25400"/>
                    <a:pt x="650621" y="25400"/>
                  </a:cubicBezTo>
                  <a:lnTo>
                    <a:pt x="650621" y="12700"/>
                  </a:lnTo>
                  <a:lnTo>
                    <a:pt x="650621" y="25400"/>
                  </a:lnTo>
                  <a:cubicBezTo>
                    <a:pt x="305308" y="25400"/>
                    <a:pt x="25400" y="305308"/>
                    <a:pt x="25400" y="650621"/>
                  </a:cubicBezTo>
                  <a:close/>
                </a:path>
              </a:pathLst>
            </a:custGeom>
            <a:solidFill>
              <a:srgbClr val="FBE19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3267908" y="4338169"/>
            <a:ext cx="546549" cy="67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70652" y="5545778"/>
            <a:ext cx="4718871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Autonomous Operations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8250" y="5931217"/>
            <a:ext cx="5062538" cy="311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AI-powered autonomous operations handle 95% of operational decisions, from real-time optimization to predictive maintenance, reducing manual interventions and maintenance costs by 60%.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14340" y="2740827"/>
            <a:ext cx="721749" cy="67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65812" y="5087576"/>
            <a:ext cx="4718872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Predictive Maintenance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11303" y="5454015"/>
            <a:ext cx="5062538" cy="283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Predictive maintenance ensures 99%+ uptime, mitigating costly downtime risks. This proactive approach keeps your mining operation running smoothly and efficiently.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298822" y="1828332"/>
            <a:ext cx="721749" cy="67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04084" y="3994707"/>
            <a:ext cx="4765826" cy="89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Automated Treasury Management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48922" y="4823460"/>
            <a:ext cx="5062538" cy="2913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non-custodial treasury management system strategically allocates assets between Bitcoin and stablecoins, boosting long-term profitability by 30-60% without adding risk.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5139"/>
            <a:ext cx="18287998" cy="10296939"/>
            <a:chOff x="0" y="0"/>
            <a:chExt cx="24383998" cy="13729252"/>
          </a:xfrm>
        </p:grpSpPr>
        <p:sp>
          <p:nvSpPr>
            <p:cNvPr name="Freeform 3" id="3" descr="https://kimi-img.moonshot.cn/pub/slides/slides_tmpl/image/25-09-02-14:58:48-d2r9ba1e3tpg8rchv35g.jpg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82" t="-59307" r="-44767" b="-1566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677478" y="5558790"/>
            <a:ext cx="13954125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Hard Numbers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60056" y="9396582"/>
            <a:ext cx="19050" cy="207975"/>
            <a:chOff x="0" y="0"/>
            <a:chExt cx="25400" cy="277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92058" y="9396582"/>
            <a:ext cx="19050" cy="207975"/>
            <a:chOff x="0" y="0"/>
            <a:chExt cx="25400" cy="277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24058" y="9240009"/>
            <a:ext cx="19050" cy="349671"/>
            <a:chOff x="0" y="0"/>
            <a:chExt cx="25400" cy="4662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2700"/>
              <a:ext cx="25400" cy="440817"/>
            </a:xfrm>
            <a:custGeom>
              <a:avLst/>
              <a:gdLst/>
              <a:ahLst/>
              <a:cxnLst/>
              <a:rect r="r" b="b" t="t" l="l"/>
              <a:pathLst>
                <a:path h="440817" w="25400">
                  <a:moveTo>
                    <a:pt x="25400" y="0"/>
                  </a:moveTo>
                  <a:lnTo>
                    <a:pt x="25400" y="440817"/>
                  </a:lnTo>
                  <a:lnTo>
                    <a:pt x="0" y="4408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556059" y="9396582"/>
            <a:ext cx="19050" cy="207975"/>
            <a:chOff x="0" y="0"/>
            <a:chExt cx="25400" cy="277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688060" y="9396582"/>
            <a:ext cx="19050" cy="207975"/>
            <a:chOff x="0" y="0"/>
            <a:chExt cx="25400" cy="277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7651910" y="1761173"/>
            <a:ext cx="3426142" cy="381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24"/>
              </a:lnSpc>
            </a:pPr>
            <a:r>
              <a:rPr lang="en-US" sz="20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118455" cy="10202228"/>
            <a:chOff x="0" y="0"/>
            <a:chExt cx="24157940" cy="13602970"/>
          </a:xfrm>
        </p:grpSpPr>
        <p:sp>
          <p:nvSpPr>
            <p:cNvPr name="Freeform 3" id="3" descr="https://kimi-img.moonshot.cn/pub/slides/slides_tmpl/image/25-09-02-14:58:54-d2r9bbhe3tpg8rchv3dg.jpg"/>
            <p:cNvSpPr/>
            <p:nvPr/>
          </p:nvSpPr>
          <p:spPr>
            <a:xfrm flipH="true" flipV="false" rot="0">
              <a:off x="0" y="0"/>
              <a:ext cx="24157939" cy="13602970"/>
            </a:xfrm>
            <a:custGeom>
              <a:avLst/>
              <a:gdLst/>
              <a:ahLst/>
              <a:cxnLst/>
              <a:rect r="r" b="b" t="t" l="l"/>
              <a:pathLst>
                <a:path h="13602970" w="24157939">
                  <a:moveTo>
                    <a:pt x="24157939" y="0"/>
                  </a:moveTo>
                  <a:lnTo>
                    <a:pt x="0" y="0"/>
                  </a:lnTo>
                  <a:lnTo>
                    <a:pt x="0" y="13602970"/>
                  </a:lnTo>
                  <a:lnTo>
                    <a:pt x="24157939" y="13602970"/>
                  </a:lnTo>
                  <a:lnTo>
                    <a:pt x="24157939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-51" b="-16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5400000">
            <a:off x="9386887" y="-2567940"/>
            <a:ext cx="3194685" cy="12915900"/>
            <a:chOff x="0" y="0"/>
            <a:chExt cx="4259580" cy="17221200"/>
          </a:xfrm>
        </p:grpSpPr>
        <p:sp>
          <p:nvSpPr>
            <p:cNvPr name="Freeform 5" id="5" descr="https://kimi-img.moonshot.cn/pub/slides/slides_tmpl/image/25-09-02-14:58:52-d2r9bb1e3tpg8rchv3ag.png"/>
            <p:cNvSpPr/>
            <p:nvPr/>
          </p:nvSpPr>
          <p:spPr>
            <a:xfrm flipH="false" flipV="false" rot="0">
              <a:off x="0" y="0"/>
              <a:ext cx="4259580" cy="17221200"/>
            </a:xfrm>
            <a:custGeom>
              <a:avLst/>
              <a:gdLst/>
              <a:ahLst/>
              <a:cxnLst/>
              <a:rect r="r" b="b" t="t" l="l"/>
              <a:pathLst>
                <a:path h="17221200" w="4259580">
                  <a:moveTo>
                    <a:pt x="0" y="0"/>
                  </a:moveTo>
                  <a:lnTo>
                    <a:pt x="4259580" y="0"/>
                  </a:lnTo>
                  <a:lnTo>
                    <a:pt x="4259580" y="17221200"/>
                  </a:lnTo>
                  <a:lnTo>
                    <a:pt x="0" y="1722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747" t="0" r="-9474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41258" y="1082993"/>
            <a:ext cx="15093315" cy="92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80"/>
              </a:lnSpc>
            </a:pPr>
            <a:r>
              <a:rPr lang="en-US" b="true" sz="5400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Before vs After: The 23 % Energy Win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7748" y="9263062"/>
            <a:ext cx="19050" cy="207645"/>
            <a:chOff x="0" y="0"/>
            <a:chExt cx="25400" cy="2768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60145" y="9263062"/>
            <a:ext cx="19050" cy="207645"/>
            <a:chOff x="0" y="0"/>
            <a:chExt cx="25400" cy="276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91590" y="9192578"/>
            <a:ext cx="19050" cy="349568"/>
            <a:chOff x="0" y="0"/>
            <a:chExt cx="25400" cy="4660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2700"/>
              <a:ext cx="25400" cy="440690"/>
            </a:xfrm>
            <a:custGeom>
              <a:avLst/>
              <a:gdLst/>
              <a:ahLst/>
              <a:cxnLst/>
              <a:rect r="r" b="b" t="t" l="l"/>
              <a:pathLst>
                <a:path h="440690" w="25400">
                  <a:moveTo>
                    <a:pt x="25400" y="0"/>
                  </a:moveTo>
                  <a:lnTo>
                    <a:pt x="25400" y="440690"/>
                  </a:lnTo>
                  <a:lnTo>
                    <a:pt x="0" y="440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23988" y="9263062"/>
            <a:ext cx="19050" cy="207645"/>
            <a:chOff x="0" y="0"/>
            <a:chExt cx="25400" cy="2768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556385" y="9263062"/>
            <a:ext cx="19050" cy="207645"/>
            <a:chOff x="0" y="0"/>
            <a:chExt cx="25400" cy="2768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5400000">
            <a:off x="9386888" y="1217295"/>
            <a:ext cx="3194685" cy="12915900"/>
            <a:chOff x="0" y="0"/>
            <a:chExt cx="4259580" cy="17221200"/>
          </a:xfrm>
        </p:grpSpPr>
        <p:sp>
          <p:nvSpPr>
            <p:cNvPr name="Freeform 18" id="18" descr="https://kimi-img.moonshot.cn/pub/slides/slides_tmpl/image/25-09-02-14:58:52-d2r9bb1e3tpg8rchv3ag.png"/>
            <p:cNvSpPr/>
            <p:nvPr/>
          </p:nvSpPr>
          <p:spPr>
            <a:xfrm flipH="false" flipV="false" rot="0">
              <a:off x="0" y="0"/>
              <a:ext cx="4259580" cy="17221200"/>
            </a:xfrm>
            <a:custGeom>
              <a:avLst/>
              <a:gdLst/>
              <a:ahLst/>
              <a:cxnLst/>
              <a:rect r="r" b="b" t="t" l="l"/>
              <a:pathLst>
                <a:path h="17221200" w="4259580">
                  <a:moveTo>
                    <a:pt x="0" y="0"/>
                  </a:moveTo>
                  <a:lnTo>
                    <a:pt x="4259580" y="0"/>
                  </a:lnTo>
                  <a:lnTo>
                    <a:pt x="4259580" y="17221200"/>
                  </a:lnTo>
                  <a:lnTo>
                    <a:pt x="0" y="1722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747" t="0" r="-94747" b="0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026795" y="2150745"/>
            <a:ext cx="7246620" cy="7246620"/>
            <a:chOff x="0" y="0"/>
            <a:chExt cx="9662160" cy="9662160"/>
          </a:xfrm>
        </p:grpSpPr>
        <p:sp>
          <p:nvSpPr>
            <p:cNvPr name="Freeform 20" id="20" descr="https://kimi-img.moonshot.cn/pub/slides/slides_tmpl/image/25-09-02-14:58:54-d2r9bbhe3tpg8rchv3e0.png"/>
            <p:cNvSpPr/>
            <p:nvPr/>
          </p:nvSpPr>
          <p:spPr>
            <a:xfrm flipH="false" flipV="false" rot="0">
              <a:off x="0" y="0"/>
              <a:ext cx="9662160" cy="9662160"/>
            </a:xfrm>
            <a:custGeom>
              <a:avLst/>
              <a:gdLst/>
              <a:ahLst/>
              <a:cxnLst/>
              <a:rect r="r" b="b" t="t" l="l"/>
              <a:pathLst>
                <a:path h="9662160" w="9662160">
                  <a:moveTo>
                    <a:pt x="0" y="0"/>
                  </a:moveTo>
                  <a:lnTo>
                    <a:pt x="9662160" y="0"/>
                  </a:lnTo>
                  <a:lnTo>
                    <a:pt x="9662160" y="9662160"/>
                  </a:lnTo>
                  <a:lnTo>
                    <a:pt x="0" y="966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524048" y="2574608"/>
            <a:ext cx="764476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Energy Efficiency Gains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64855" y="3098483"/>
            <a:ext cx="8773478" cy="14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TerraHash Stack reduces energy consumption from 18.5 J/TH to 14.2 J/TH, a 23% improvement. This translates to significant cost savings and enhanced profitability.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64930" y="6359842"/>
            <a:ext cx="820388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Hashrate and OPEX Reduction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14398" y="6883717"/>
            <a:ext cx="8623935" cy="147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It also delivers a 20% hashrate boost and a 65% reduction in operational expenses. These improvements ensure a rapid payback period of 16-24 months.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96939"/>
            <a:chOff x="0" y="0"/>
            <a:chExt cx="24384000" cy="13729252"/>
          </a:xfrm>
        </p:grpSpPr>
        <p:sp>
          <p:nvSpPr>
            <p:cNvPr name="Freeform 3" id="3" descr="https://kimi-img.moonshot.cn/pub/slides/slides_tmpl/image/25-09-02-14:58:51-d2r9bape3tpg8rchv360.jpg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-30" b="-16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886059" y="3753076"/>
            <a:ext cx="1638300" cy="2838450"/>
            <a:chOff x="0" y="0"/>
            <a:chExt cx="2184400" cy="3784600"/>
          </a:xfrm>
        </p:grpSpPr>
        <p:sp>
          <p:nvSpPr>
            <p:cNvPr name="Freeform 5" id="5" descr="https://kimi-img.moonshot.cn/pub/slides/slides_tmpl/image/25-09-02-14:58:57-d2r9bc9e3tpg8rchv3m0.png"/>
            <p:cNvSpPr/>
            <p:nvPr/>
          </p:nvSpPr>
          <p:spPr>
            <a:xfrm flipH="false" flipV="false" rot="0">
              <a:off x="0" y="0"/>
              <a:ext cx="2184400" cy="3784600"/>
            </a:xfrm>
            <a:custGeom>
              <a:avLst/>
              <a:gdLst/>
              <a:ahLst/>
              <a:cxnLst/>
              <a:rect r="r" b="b" t="t" l="l"/>
              <a:pathLst>
                <a:path h="3784600" w="2184400">
                  <a:moveTo>
                    <a:pt x="0" y="0"/>
                  </a:moveTo>
                  <a:lnTo>
                    <a:pt x="2184400" y="0"/>
                  </a:lnTo>
                  <a:lnTo>
                    <a:pt x="2184400" y="3784600"/>
                  </a:lnTo>
                  <a:lnTo>
                    <a:pt x="0" y="378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" t="0" r="-17" b="-49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386960" y="1365140"/>
            <a:ext cx="116696" cy="108000"/>
            <a:chOff x="0" y="0"/>
            <a:chExt cx="155594" cy="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0" y="72009"/>
                  </a:moveTo>
                  <a:cubicBezTo>
                    <a:pt x="0" y="32258"/>
                    <a:pt x="34798" y="0"/>
                    <a:pt x="77851" y="0"/>
                  </a:cubicBezTo>
                  <a:cubicBezTo>
                    <a:pt x="120904" y="0"/>
                    <a:pt x="155702" y="32258"/>
                    <a:pt x="155702" y="72009"/>
                  </a:cubicBezTo>
                  <a:cubicBezTo>
                    <a:pt x="155702" y="111760"/>
                    <a:pt x="120904" y="144018"/>
                    <a:pt x="77851" y="144018"/>
                  </a:cubicBezTo>
                  <a:cubicBezTo>
                    <a:pt x="34798" y="144018"/>
                    <a:pt x="0" y="111760"/>
                    <a:pt x="0" y="7200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579221" y="1365140"/>
            <a:ext cx="116696" cy="108000"/>
            <a:chOff x="0" y="0"/>
            <a:chExt cx="155594" cy="14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0" y="72009"/>
                  </a:moveTo>
                  <a:cubicBezTo>
                    <a:pt x="0" y="32258"/>
                    <a:pt x="34798" y="0"/>
                    <a:pt x="77851" y="0"/>
                  </a:cubicBezTo>
                  <a:cubicBezTo>
                    <a:pt x="120904" y="0"/>
                    <a:pt x="155702" y="32258"/>
                    <a:pt x="155702" y="72009"/>
                  </a:cubicBezTo>
                  <a:cubicBezTo>
                    <a:pt x="155702" y="111760"/>
                    <a:pt x="120904" y="144018"/>
                    <a:pt x="77851" y="144018"/>
                  </a:cubicBezTo>
                  <a:cubicBezTo>
                    <a:pt x="34798" y="144018"/>
                    <a:pt x="0" y="111760"/>
                    <a:pt x="0" y="72009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775742" y="1365140"/>
            <a:ext cx="116696" cy="108000"/>
            <a:chOff x="0" y="0"/>
            <a:chExt cx="155594" cy="14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0" y="72009"/>
                  </a:moveTo>
                  <a:cubicBezTo>
                    <a:pt x="0" y="32258"/>
                    <a:pt x="34798" y="0"/>
                    <a:pt x="77851" y="0"/>
                  </a:cubicBezTo>
                  <a:cubicBezTo>
                    <a:pt x="120904" y="0"/>
                    <a:pt x="155702" y="32258"/>
                    <a:pt x="155702" y="72009"/>
                  </a:cubicBezTo>
                  <a:cubicBezTo>
                    <a:pt x="155702" y="111760"/>
                    <a:pt x="120904" y="144018"/>
                    <a:pt x="77851" y="144018"/>
                  </a:cubicBezTo>
                  <a:cubicBezTo>
                    <a:pt x="34798" y="144018"/>
                    <a:pt x="0" y="111760"/>
                    <a:pt x="0" y="7200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972264" y="1365140"/>
            <a:ext cx="116696" cy="108000"/>
            <a:chOff x="0" y="0"/>
            <a:chExt cx="155594" cy="14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0" y="72009"/>
                  </a:moveTo>
                  <a:cubicBezTo>
                    <a:pt x="0" y="32258"/>
                    <a:pt x="34798" y="0"/>
                    <a:pt x="77851" y="0"/>
                  </a:cubicBezTo>
                  <a:cubicBezTo>
                    <a:pt x="120904" y="0"/>
                    <a:pt x="155702" y="32258"/>
                    <a:pt x="155702" y="72009"/>
                  </a:cubicBezTo>
                  <a:cubicBezTo>
                    <a:pt x="155702" y="111760"/>
                    <a:pt x="120904" y="144018"/>
                    <a:pt x="77851" y="144018"/>
                  </a:cubicBezTo>
                  <a:cubicBezTo>
                    <a:pt x="34798" y="144018"/>
                    <a:pt x="0" y="111760"/>
                    <a:pt x="0" y="72009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-10800000">
            <a:off x="2311616" y="5202926"/>
            <a:ext cx="1638300" cy="2838450"/>
            <a:chOff x="0" y="0"/>
            <a:chExt cx="2184400" cy="3784600"/>
          </a:xfrm>
        </p:grpSpPr>
        <p:sp>
          <p:nvSpPr>
            <p:cNvPr name="Freeform 15" id="15" descr="https://kimi-img.moonshot.cn/pub/slides/slides_tmpl/image/25-09-02-14:58:57-d2r9bc9e3tpg8rchv3m0.png"/>
            <p:cNvSpPr/>
            <p:nvPr/>
          </p:nvSpPr>
          <p:spPr>
            <a:xfrm flipH="false" flipV="false" rot="0">
              <a:off x="0" y="0"/>
              <a:ext cx="2184400" cy="3784600"/>
            </a:xfrm>
            <a:custGeom>
              <a:avLst/>
              <a:gdLst/>
              <a:ahLst/>
              <a:cxnLst/>
              <a:rect r="r" b="b" t="t" l="l"/>
              <a:pathLst>
                <a:path h="3784600" w="2184400">
                  <a:moveTo>
                    <a:pt x="0" y="0"/>
                  </a:moveTo>
                  <a:lnTo>
                    <a:pt x="2184400" y="0"/>
                  </a:lnTo>
                  <a:lnTo>
                    <a:pt x="2184400" y="3784600"/>
                  </a:lnTo>
                  <a:lnTo>
                    <a:pt x="0" y="378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" t="0" r="-17" b="-490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-10800000">
            <a:off x="9960549" y="5202926"/>
            <a:ext cx="1638300" cy="2838450"/>
            <a:chOff x="0" y="0"/>
            <a:chExt cx="2184400" cy="3784600"/>
          </a:xfrm>
        </p:grpSpPr>
        <p:sp>
          <p:nvSpPr>
            <p:cNvPr name="Freeform 17" id="17" descr="https://kimi-img.moonshot.cn/pub/slides/slides_tmpl/image/25-09-02-14:58:57-d2r9bc9e3tpg8rchv3m0.png"/>
            <p:cNvSpPr/>
            <p:nvPr/>
          </p:nvSpPr>
          <p:spPr>
            <a:xfrm flipH="false" flipV="false" rot="0">
              <a:off x="0" y="0"/>
              <a:ext cx="2184400" cy="3784600"/>
            </a:xfrm>
            <a:custGeom>
              <a:avLst/>
              <a:gdLst/>
              <a:ahLst/>
              <a:cxnLst/>
              <a:rect r="r" b="b" t="t" l="l"/>
              <a:pathLst>
                <a:path h="3784600" w="2184400">
                  <a:moveTo>
                    <a:pt x="0" y="0"/>
                  </a:moveTo>
                  <a:lnTo>
                    <a:pt x="2184400" y="0"/>
                  </a:lnTo>
                  <a:lnTo>
                    <a:pt x="2184400" y="3784600"/>
                  </a:lnTo>
                  <a:lnTo>
                    <a:pt x="0" y="378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" t="0" r="-17" b="-490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4519870" y="3765542"/>
            <a:ext cx="1638300" cy="2838450"/>
            <a:chOff x="0" y="0"/>
            <a:chExt cx="2184400" cy="3784600"/>
          </a:xfrm>
        </p:grpSpPr>
        <p:sp>
          <p:nvSpPr>
            <p:cNvPr name="Freeform 19" id="19" descr="https://kimi-img.moonshot.cn/pub/slides/slides_tmpl/image/25-09-02-14:58:57-d2r9bc9e3tpg8rchv3m0.png"/>
            <p:cNvSpPr/>
            <p:nvPr/>
          </p:nvSpPr>
          <p:spPr>
            <a:xfrm flipH="false" flipV="false" rot="0">
              <a:off x="0" y="0"/>
              <a:ext cx="2184400" cy="3784600"/>
            </a:xfrm>
            <a:custGeom>
              <a:avLst/>
              <a:gdLst/>
              <a:ahLst/>
              <a:cxnLst/>
              <a:rect r="r" b="b" t="t" l="l"/>
              <a:pathLst>
                <a:path h="3784600" w="2184400">
                  <a:moveTo>
                    <a:pt x="0" y="0"/>
                  </a:moveTo>
                  <a:lnTo>
                    <a:pt x="2184400" y="0"/>
                  </a:lnTo>
                  <a:lnTo>
                    <a:pt x="2184400" y="3784600"/>
                  </a:lnTo>
                  <a:lnTo>
                    <a:pt x="0" y="378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" t="0" r="-17" b="-49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59155" y="1106805"/>
            <a:ext cx="14966633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Payback &amp; Uptime You Can Bank 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47486" y="6959970"/>
            <a:ext cx="978706" cy="54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69067" y="6315075"/>
            <a:ext cx="6425565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Guaranteed Uptime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04298" y="6636067"/>
            <a:ext cx="6242685" cy="195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TerraHash Stack guarantees 99% uptime, significantly higher than the industry average of 85-90%. This reliability ensures consistent mining operations and revenue generation.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20391" y="4244063"/>
            <a:ext cx="978706" cy="54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4877" y="2667000"/>
            <a:ext cx="6425565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Rapid Payback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9155" y="2987992"/>
            <a:ext cx="6242685" cy="195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With a typical payback period of 16-24 months, the TerraHash Stack offers a quick return on investment, making it a financially sound decision for your mining operation.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6602" y="6985371"/>
            <a:ext cx="978706" cy="54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529060" y="6315075"/>
            <a:ext cx="6425565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Extended Equipment Life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63338" y="6636067"/>
            <a:ext cx="6242685" cy="195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retrofit extends ASIC lifespan from 30-36 months to 4-5 years, reducing hardware replacement costs and maximizing the value of your investment.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849665" y="4271496"/>
            <a:ext cx="978706" cy="54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47722" y="2667000"/>
            <a:ext cx="6425565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Performance Guarantees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382953" y="2987992"/>
            <a:ext cx="6242685" cy="195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Fixed-price contracts with performance guarantees and comprehensive SLA support ensure your success, transferring risk from your operation to Ryno Crypto.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5139"/>
            <a:ext cx="18287998" cy="10296939"/>
            <a:chOff x="0" y="0"/>
            <a:chExt cx="24383998" cy="13729252"/>
          </a:xfrm>
        </p:grpSpPr>
        <p:sp>
          <p:nvSpPr>
            <p:cNvPr name="Freeform 3" id="3" descr="https://kimi-img.moonshot.cn/pub/slides/slides_tmpl/image/25-09-02-14:58:48-d2r9ba1e3tpg8rchv35g.jpg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82" t="-59307" r="-44767" b="-1566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677478" y="5558790"/>
            <a:ext cx="13954125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Deployment Choices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60056" y="9396582"/>
            <a:ext cx="19050" cy="207975"/>
            <a:chOff x="0" y="0"/>
            <a:chExt cx="25400" cy="277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92058" y="9396582"/>
            <a:ext cx="19050" cy="207975"/>
            <a:chOff x="0" y="0"/>
            <a:chExt cx="25400" cy="277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24058" y="9240009"/>
            <a:ext cx="19050" cy="349671"/>
            <a:chOff x="0" y="0"/>
            <a:chExt cx="25400" cy="4662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2700"/>
              <a:ext cx="25400" cy="440817"/>
            </a:xfrm>
            <a:custGeom>
              <a:avLst/>
              <a:gdLst/>
              <a:ahLst/>
              <a:cxnLst/>
              <a:rect r="r" b="b" t="t" l="l"/>
              <a:pathLst>
                <a:path h="440817" w="25400">
                  <a:moveTo>
                    <a:pt x="25400" y="0"/>
                  </a:moveTo>
                  <a:lnTo>
                    <a:pt x="25400" y="440817"/>
                  </a:lnTo>
                  <a:lnTo>
                    <a:pt x="0" y="4408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556059" y="9396582"/>
            <a:ext cx="19050" cy="207975"/>
            <a:chOff x="0" y="0"/>
            <a:chExt cx="25400" cy="277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688060" y="9396582"/>
            <a:ext cx="19050" cy="207975"/>
            <a:chOff x="0" y="0"/>
            <a:chExt cx="25400" cy="277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7651910" y="1761173"/>
            <a:ext cx="3426142" cy="381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24"/>
              </a:lnSpc>
            </a:pPr>
            <a:r>
              <a:rPr lang="en-US" sz="20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4767" y="-19050"/>
            <a:ext cx="18292767" cy="10299622"/>
            <a:chOff x="0" y="0"/>
            <a:chExt cx="24390356" cy="13732830"/>
          </a:xfrm>
        </p:grpSpPr>
        <p:sp>
          <p:nvSpPr>
            <p:cNvPr name="Freeform 3" id="3" descr="https://kimi-img.moonshot.cn/pub/slides/slides_tmpl/image/25-09-02-14:58:51-d2r9bape3tpg8rchv360.jpg"/>
            <p:cNvSpPr/>
            <p:nvPr/>
          </p:nvSpPr>
          <p:spPr>
            <a:xfrm flipH="false" flipV="false" rot="0">
              <a:off x="0" y="0"/>
              <a:ext cx="243903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390350">
                  <a:moveTo>
                    <a:pt x="0" y="0"/>
                  </a:moveTo>
                  <a:lnTo>
                    <a:pt x="24390350" y="0"/>
                  </a:lnTo>
                  <a:lnTo>
                    <a:pt x="24390350" y="13732890"/>
                  </a:lnTo>
                  <a:lnTo>
                    <a:pt x="0" y="13732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-30" b="-15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94410" y="7201853"/>
            <a:ext cx="15242857" cy="2384108"/>
            <a:chOff x="0" y="0"/>
            <a:chExt cx="20323810" cy="3178810"/>
          </a:xfrm>
        </p:grpSpPr>
        <p:sp>
          <p:nvSpPr>
            <p:cNvPr name="Freeform 5" id="5" descr="https://kimi-img.moonshot.cn/pub/slides/slides_tmpl/image/25-09-02-14:58:55-d2r9bbpe3tpg8rchv3j0.png"/>
            <p:cNvSpPr/>
            <p:nvPr/>
          </p:nvSpPr>
          <p:spPr>
            <a:xfrm flipH="false" flipV="false" rot="0">
              <a:off x="0" y="0"/>
              <a:ext cx="20323811" cy="3178810"/>
            </a:xfrm>
            <a:custGeom>
              <a:avLst/>
              <a:gdLst/>
              <a:ahLst/>
              <a:cxnLst/>
              <a:rect r="r" b="b" t="t" l="l"/>
              <a:pathLst>
                <a:path h="3178810" w="20323811">
                  <a:moveTo>
                    <a:pt x="0" y="0"/>
                  </a:moveTo>
                  <a:lnTo>
                    <a:pt x="20323811" y="0"/>
                  </a:lnTo>
                  <a:lnTo>
                    <a:pt x="20323811" y="3178810"/>
                  </a:lnTo>
                  <a:lnTo>
                    <a:pt x="0" y="3178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4" t="0" r="-34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267903" y="4900612"/>
            <a:ext cx="15242857" cy="2384107"/>
            <a:chOff x="0" y="0"/>
            <a:chExt cx="20323810" cy="3178810"/>
          </a:xfrm>
        </p:grpSpPr>
        <p:sp>
          <p:nvSpPr>
            <p:cNvPr name="Freeform 7" id="7" descr="https://kimi-img.moonshot.cn/pub/slides/slides_tmpl/image/25-09-02-14:58:55-d2r9bbpe3tpg8rchv3j0.png"/>
            <p:cNvSpPr/>
            <p:nvPr/>
          </p:nvSpPr>
          <p:spPr>
            <a:xfrm flipH="true" flipV="false" rot="0">
              <a:off x="0" y="0"/>
              <a:ext cx="20323811" cy="3178810"/>
            </a:xfrm>
            <a:custGeom>
              <a:avLst/>
              <a:gdLst/>
              <a:ahLst/>
              <a:cxnLst/>
              <a:rect r="r" b="b" t="t" l="l"/>
              <a:pathLst>
                <a:path h="3178810" w="20323811">
                  <a:moveTo>
                    <a:pt x="20323811" y="0"/>
                  </a:moveTo>
                  <a:lnTo>
                    <a:pt x="0" y="0"/>
                  </a:lnTo>
                  <a:lnTo>
                    <a:pt x="0" y="3178810"/>
                  </a:lnTo>
                  <a:lnTo>
                    <a:pt x="20323811" y="3178810"/>
                  </a:lnTo>
                  <a:lnTo>
                    <a:pt x="20323811" y="0"/>
                  </a:lnTo>
                  <a:close/>
                </a:path>
              </a:pathLst>
            </a:custGeom>
            <a:blipFill>
              <a:blip r:embed="rId4"/>
              <a:stretch>
                <a:fillRect l="-34" t="0" r="-34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994410" y="2560320"/>
            <a:ext cx="15242857" cy="2384108"/>
            <a:chOff x="0" y="0"/>
            <a:chExt cx="20323810" cy="3178810"/>
          </a:xfrm>
        </p:grpSpPr>
        <p:sp>
          <p:nvSpPr>
            <p:cNvPr name="Freeform 9" id="9" descr="https://kimi-img.moonshot.cn/pub/slides/slides_tmpl/image/25-09-02-14:58:55-d2r9bbpe3tpg8rchv3j0.png"/>
            <p:cNvSpPr/>
            <p:nvPr/>
          </p:nvSpPr>
          <p:spPr>
            <a:xfrm flipH="false" flipV="false" rot="0">
              <a:off x="0" y="0"/>
              <a:ext cx="20323811" cy="3178810"/>
            </a:xfrm>
            <a:custGeom>
              <a:avLst/>
              <a:gdLst/>
              <a:ahLst/>
              <a:cxnLst/>
              <a:rect r="r" b="b" t="t" l="l"/>
              <a:pathLst>
                <a:path h="3178810" w="20323811">
                  <a:moveTo>
                    <a:pt x="0" y="0"/>
                  </a:moveTo>
                  <a:lnTo>
                    <a:pt x="20323811" y="0"/>
                  </a:lnTo>
                  <a:lnTo>
                    <a:pt x="20323811" y="3178810"/>
                  </a:lnTo>
                  <a:lnTo>
                    <a:pt x="0" y="3178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4" t="0" r="-3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972264" y="1472772"/>
            <a:ext cx="116696" cy="108000"/>
            <a:chOff x="0" y="0"/>
            <a:chExt cx="155594" cy="14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780002" y="1472772"/>
            <a:ext cx="116696" cy="108000"/>
            <a:chOff x="0" y="0"/>
            <a:chExt cx="155594" cy="14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6583481" y="1472772"/>
            <a:ext cx="116696" cy="108000"/>
            <a:chOff x="0" y="0"/>
            <a:chExt cx="155594" cy="14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386960" y="1472772"/>
            <a:ext cx="116696" cy="108000"/>
            <a:chOff x="0" y="0"/>
            <a:chExt cx="155594" cy="14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04875" y="1188720"/>
            <a:ext cx="15114270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Container, Warehouse, or Fleet-Only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483042" y="2949892"/>
            <a:ext cx="1633538" cy="1633538"/>
            <a:chOff x="0" y="0"/>
            <a:chExt cx="2178050" cy="2178050"/>
          </a:xfrm>
        </p:grpSpPr>
        <p:sp>
          <p:nvSpPr>
            <p:cNvPr name="Freeform 20" id="20" descr="https://kimi-img.moonshot.cn/pub/slides/slides_tmpl/image/25-09-02-14:58:55-d2r9bbpe3tpg8rchv3k0.png"/>
            <p:cNvSpPr/>
            <p:nvPr/>
          </p:nvSpPr>
          <p:spPr>
            <a:xfrm flipH="false" flipV="false" rot="0">
              <a:off x="0" y="0"/>
              <a:ext cx="2178050" cy="2178050"/>
            </a:xfrm>
            <a:custGeom>
              <a:avLst/>
              <a:gdLst/>
              <a:ahLst/>
              <a:cxnLst/>
              <a:rect r="r" b="b" t="t" l="l"/>
              <a:pathLst>
                <a:path h="2178050" w="2178050">
                  <a:moveTo>
                    <a:pt x="0" y="0"/>
                  </a:moveTo>
                  <a:lnTo>
                    <a:pt x="2178050" y="0"/>
                  </a:lnTo>
                  <a:lnTo>
                    <a:pt x="2178050" y="2178050"/>
                  </a:lnTo>
                  <a:lnTo>
                    <a:pt x="0" y="2178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5390495" y="5279708"/>
            <a:ext cx="1633538" cy="1633538"/>
            <a:chOff x="0" y="0"/>
            <a:chExt cx="2178050" cy="2178050"/>
          </a:xfrm>
        </p:grpSpPr>
        <p:sp>
          <p:nvSpPr>
            <p:cNvPr name="Freeform 22" id="22" descr="https://kimi-img.moonshot.cn/pub/slides/slides_tmpl/image/25-09-02-14:58:55-d2r9bbpe3tpg8rchv3k0.png"/>
            <p:cNvSpPr/>
            <p:nvPr/>
          </p:nvSpPr>
          <p:spPr>
            <a:xfrm flipH="false" flipV="false" rot="0">
              <a:off x="0" y="0"/>
              <a:ext cx="2178050" cy="2178050"/>
            </a:xfrm>
            <a:custGeom>
              <a:avLst/>
              <a:gdLst/>
              <a:ahLst/>
              <a:cxnLst/>
              <a:rect r="r" b="b" t="t" l="l"/>
              <a:pathLst>
                <a:path h="2178050" w="2178050">
                  <a:moveTo>
                    <a:pt x="0" y="0"/>
                  </a:moveTo>
                  <a:lnTo>
                    <a:pt x="2178050" y="0"/>
                  </a:lnTo>
                  <a:lnTo>
                    <a:pt x="2178050" y="2178050"/>
                  </a:lnTo>
                  <a:lnTo>
                    <a:pt x="0" y="2178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483042" y="7619047"/>
            <a:ext cx="1633538" cy="1633538"/>
            <a:chOff x="0" y="0"/>
            <a:chExt cx="2178050" cy="2178050"/>
          </a:xfrm>
        </p:grpSpPr>
        <p:sp>
          <p:nvSpPr>
            <p:cNvPr name="Freeform 24" id="24" descr="https://kimi-img.moonshot.cn/pub/slides/slides_tmpl/image/25-09-02-14:58:55-d2r9bbpe3tpg8rchv3k0.png"/>
            <p:cNvSpPr/>
            <p:nvPr/>
          </p:nvSpPr>
          <p:spPr>
            <a:xfrm flipH="false" flipV="false" rot="0">
              <a:off x="0" y="0"/>
              <a:ext cx="2178050" cy="2178050"/>
            </a:xfrm>
            <a:custGeom>
              <a:avLst/>
              <a:gdLst/>
              <a:ahLst/>
              <a:cxnLst/>
              <a:rect r="r" b="b" t="t" l="l"/>
              <a:pathLst>
                <a:path h="2178050" w="2178050">
                  <a:moveTo>
                    <a:pt x="0" y="0"/>
                  </a:moveTo>
                  <a:lnTo>
                    <a:pt x="2178050" y="0"/>
                  </a:lnTo>
                  <a:lnTo>
                    <a:pt x="2178050" y="2178050"/>
                  </a:lnTo>
                  <a:lnTo>
                    <a:pt x="0" y="2178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844517" y="3208020"/>
            <a:ext cx="91059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54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618547" y="2875598"/>
            <a:ext cx="876585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Container-Based Retrofits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73458" y="3421980"/>
            <a:ext cx="11511450" cy="752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Ideal for modular deployments, 5 MW container retrofits offer a 16-20 month payback period within a 12-14 week timeline, requiring an investment of $1.8-2.2M.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752445" y="5537835"/>
            <a:ext cx="91059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54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998720" y="5218747"/>
            <a:ext cx="1048416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Warehouse Conversions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313108" y="5627634"/>
            <a:ext cx="11511450" cy="752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Comprehensive overhauls for large-scale facilities (25 MW typical) provide an 18-24 month payback period within a 20-24 week timeline, with an investment of $9-11M.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44517" y="7877175"/>
            <a:ext cx="91059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5400">
                <a:solidFill>
                  <a:srgbClr val="F8D089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618547" y="7491412"/>
            <a:ext cx="876585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Legacy Fleet Upgrades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573458" y="7867869"/>
            <a:ext cx="11511450" cy="9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Targeted solutions address specific operational bottlenecks with custom timelines and pricing, ensuring flexibility and tailored improvements.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96939"/>
            <a:chOff x="0" y="0"/>
            <a:chExt cx="24384000" cy="13729252"/>
          </a:xfrm>
        </p:grpSpPr>
        <p:sp>
          <p:nvSpPr>
            <p:cNvPr name="Freeform 3" id="3" descr="https://kimi-img.moonshot.cn/pub/slides/slides_tmpl/image/25-09-02-14:58:48-d2r9ba1e3tpg8rchv34g.jpg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4" t="-3534" r="-6755" b="-226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374552" y="9270682"/>
            <a:ext cx="117157" cy="107632"/>
            <a:chOff x="0" y="0"/>
            <a:chExt cx="156210" cy="143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7177385" y="9272588"/>
            <a:ext cx="117157" cy="107632"/>
            <a:chOff x="0" y="0"/>
            <a:chExt cx="156210" cy="1435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984980" y="9270682"/>
            <a:ext cx="117157" cy="107632"/>
            <a:chOff x="0" y="0"/>
            <a:chExt cx="156210" cy="1435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788765" y="9270682"/>
            <a:ext cx="117157" cy="107632"/>
            <a:chOff x="0" y="0"/>
            <a:chExt cx="156210" cy="143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0" y="2168366"/>
            <a:ext cx="8828849" cy="6243251"/>
            <a:chOff x="0" y="0"/>
            <a:chExt cx="11804546" cy="8347492"/>
          </a:xfrm>
        </p:grpSpPr>
        <p:sp>
          <p:nvSpPr>
            <p:cNvPr name="Freeform 13" id="13" descr="https://kimi-img.moonshot.cn/pub/slides/25-11-30-13:32:39-d4ltdtsupvnvrv8oj2o0.png"/>
            <p:cNvSpPr/>
            <p:nvPr/>
          </p:nvSpPr>
          <p:spPr>
            <a:xfrm flipH="false" flipV="false" rot="0">
              <a:off x="0" y="0"/>
              <a:ext cx="11804523" cy="8347456"/>
            </a:xfrm>
            <a:custGeom>
              <a:avLst/>
              <a:gdLst/>
              <a:ahLst/>
              <a:cxnLst/>
              <a:rect r="r" b="b" t="t" l="l"/>
              <a:pathLst>
                <a:path h="8347456" w="11804523">
                  <a:moveTo>
                    <a:pt x="0" y="0"/>
                  </a:moveTo>
                  <a:lnTo>
                    <a:pt x="11804523" y="0"/>
                  </a:lnTo>
                  <a:lnTo>
                    <a:pt x="11804523" y="8347456"/>
                  </a:lnTo>
                  <a:lnTo>
                    <a:pt x="0" y="8347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5000"/>
              </a:blip>
              <a:stretch>
                <a:fillRect l="-3035" t="0" r="-3035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57350" y="1009650"/>
            <a:ext cx="1413986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7-Day Assessment to Signed Deal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97602" y="2971800"/>
            <a:ext cx="574167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Rapid Assessment and Deployment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47251" y="3915258"/>
            <a:ext cx="7449309" cy="2342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Ryno Crypto offers a rapid 7-10 day facility assessment, followed by a custom engineering design, modular phased construction, and 24/7 NOC optimization. This streamlined process ensures quick deployment and value realization.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5139"/>
            <a:ext cx="18287998" cy="10296939"/>
            <a:chOff x="0" y="0"/>
            <a:chExt cx="24383998" cy="13729252"/>
          </a:xfrm>
        </p:grpSpPr>
        <p:sp>
          <p:nvSpPr>
            <p:cNvPr name="Freeform 3" id="3" descr="https://kimi-img.moonshot.cn/pub/slides/slides_tmpl/image/25-09-02-14:58:48-d2r9ba1e3tpg8rchv35g.jpg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82" t="-59307" r="-44767" b="-1566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677478" y="5558790"/>
            <a:ext cx="13954125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Partner Proof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60056" y="9396582"/>
            <a:ext cx="19050" cy="207975"/>
            <a:chOff x="0" y="0"/>
            <a:chExt cx="25400" cy="277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92058" y="9396582"/>
            <a:ext cx="19050" cy="207975"/>
            <a:chOff x="0" y="0"/>
            <a:chExt cx="25400" cy="277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24058" y="9240009"/>
            <a:ext cx="19050" cy="349671"/>
            <a:chOff x="0" y="0"/>
            <a:chExt cx="25400" cy="4662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2700"/>
              <a:ext cx="25400" cy="440817"/>
            </a:xfrm>
            <a:custGeom>
              <a:avLst/>
              <a:gdLst/>
              <a:ahLst/>
              <a:cxnLst/>
              <a:rect r="r" b="b" t="t" l="l"/>
              <a:pathLst>
                <a:path h="440817" w="25400">
                  <a:moveTo>
                    <a:pt x="25400" y="0"/>
                  </a:moveTo>
                  <a:lnTo>
                    <a:pt x="25400" y="440817"/>
                  </a:lnTo>
                  <a:lnTo>
                    <a:pt x="0" y="4408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556059" y="9396582"/>
            <a:ext cx="19050" cy="207975"/>
            <a:chOff x="0" y="0"/>
            <a:chExt cx="25400" cy="277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688060" y="9396582"/>
            <a:ext cx="19050" cy="207975"/>
            <a:chOff x="0" y="0"/>
            <a:chExt cx="25400" cy="277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7651910" y="1761173"/>
            <a:ext cx="3426142" cy="381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24"/>
              </a:lnSpc>
            </a:pPr>
            <a:r>
              <a:rPr lang="en-US" sz="20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1561" y="0"/>
            <a:ext cx="18288000" cy="10296939"/>
            <a:chOff x="0" y="0"/>
            <a:chExt cx="24384000" cy="13729252"/>
          </a:xfrm>
        </p:grpSpPr>
        <p:sp>
          <p:nvSpPr>
            <p:cNvPr name="Freeform 3" id="3" descr="https://kimi-img.moonshot.cn/pub/slides/slides_tmpl/image/25-09-02-14:58:54-d2r9bbhe3tpg8rchv3d0.jpg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8" t="-5348" r="-36515" b="-309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4762" y="1514259"/>
            <a:ext cx="1204643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Why Ryno Crypto, Why Now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7748" y="9263062"/>
            <a:ext cx="19050" cy="207645"/>
            <a:chOff x="0" y="0"/>
            <a:chExt cx="25400" cy="2768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60145" y="9263062"/>
            <a:ext cx="19050" cy="207645"/>
            <a:chOff x="0" y="0"/>
            <a:chExt cx="25400" cy="2768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91590" y="9192578"/>
            <a:ext cx="19050" cy="349568"/>
            <a:chOff x="0" y="0"/>
            <a:chExt cx="25400" cy="4660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2700"/>
              <a:ext cx="25400" cy="440690"/>
            </a:xfrm>
            <a:custGeom>
              <a:avLst/>
              <a:gdLst/>
              <a:ahLst/>
              <a:cxnLst/>
              <a:rect r="r" b="b" t="t" l="l"/>
              <a:pathLst>
                <a:path h="440690" w="25400">
                  <a:moveTo>
                    <a:pt x="25400" y="0"/>
                  </a:moveTo>
                  <a:lnTo>
                    <a:pt x="25400" y="440690"/>
                  </a:lnTo>
                  <a:lnTo>
                    <a:pt x="0" y="440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423988" y="9263062"/>
            <a:ext cx="19050" cy="207645"/>
            <a:chOff x="0" y="0"/>
            <a:chExt cx="25400" cy="2768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56385" y="9263062"/>
            <a:ext cx="19050" cy="207645"/>
            <a:chOff x="0" y="0"/>
            <a:chExt cx="25400" cy="2768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12700"/>
              <a:ext cx="25400" cy="251460"/>
            </a:xfrm>
            <a:custGeom>
              <a:avLst/>
              <a:gdLst/>
              <a:ahLst/>
              <a:cxnLst/>
              <a:rect r="r" b="b" t="t" l="l"/>
              <a:pathLst>
                <a:path h="251460" w="25400">
                  <a:moveTo>
                    <a:pt x="25400" y="0"/>
                  </a:moveTo>
                  <a:lnTo>
                    <a:pt x="25400" y="251460"/>
                  </a:lnTo>
                  <a:lnTo>
                    <a:pt x="0" y="25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360295" y="1138238"/>
            <a:ext cx="117158" cy="107633"/>
            <a:chOff x="0" y="0"/>
            <a:chExt cx="156210" cy="1435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167890" y="1138238"/>
            <a:ext cx="117158" cy="107633"/>
            <a:chOff x="0" y="0"/>
            <a:chExt cx="156210" cy="1435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970723" y="1138238"/>
            <a:ext cx="117158" cy="107633"/>
            <a:chOff x="0" y="0"/>
            <a:chExt cx="156210" cy="1435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774508" y="1138238"/>
            <a:ext cx="117158" cy="107633"/>
            <a:chOff x="0" y="0"/>
            <a:chExt cx="156210" cy="1435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6210" cy="143510"/>
            </a:xfrm>
            <a:custGeom>
              <a:avLst/>
              <a:gdLst/>
              <a:ahLst/>
              <a:cxnLst/>
              <a:rect r="r" b="b" t="t" l="l"/>
              <a:pathLst>
                <a:path h="143510" w="156210">
                  <a:moveTo>
                    <a:pt x="156210" y="71755"/>
                  </a:moveTo>
                  <a:cubicBezTo>
                    <a:pt x="156210" y="32131"/>
                    <a:pt x="121285" y="0"/>
                    <a:pt x="78105" y="0"/>
                  </a:cubicBezTo>
                  <a:cubicBezTo>
                    <a:pt x="34925" y="0"/>
                    <a:pt x="0" y="32131"/>
                    <a:pt x="0" y="71755"/>
                  </a:cubicBezTo>
                  <a:cubicBezTo>
                    <a:pt x="0" y="111379"/>
                    <a:pt x="34925" y="143510"/>
                    <a:pt x="78105" y="143510"/>
                  </a:cubicBezTo>
                  <a:cubicBezTo>
                    <a:pt x="121285" y="143510"/>
                    <a:pt x="156210" y="111379"/>
                    <a:pt x="156210" y="71755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994410" y="811530"/>
            <a:ext cx="533400" cy="457200"/>
            <a:chOff x="0" y="0"/>
            <a:chExt cx="711200" cy="609600"/>
          </a:xfrm>
        </p:grpSpPr>
        <p:sp>
          <p:nvSpPr>
            <p:cNvPr name="Freeform 24" id="24" descr="https://kimi-img.moonshot.cn/pub/slides/slides_tmpl/image/25-09-02-14:58:52-d2r9bb1e3tpg8rchv3bg.png"/>
            <p:cNvSpPr/>
            <p:nvPr/>
          </p:nvSpPr>
          <p:spPr>
            <a:xfrm flipH="true" flipV="true" rot="0">
              <a:off x="0" y="0"/>
              <a:ext cx="71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11200">
                  <a:moveTo>
                    <a:pt x="711200" y="609600"/>
                  </a:moveTo>
                  <a:lnTo>
                    <a:pt x="0" y="609600"/>
                  </a:lnTo>
                  <a:lnTo>
                    <a:pt x="0" y="0"/>
                  </a:lnTo>
                  <a:lnTo>
                    <a:pt x="711200" y="0"/>
                  </a:lnTo>
                  <a:lnTo>
                    <a:pt x="711200" y="609600"/>
                  </a:lnTo>
                  <a:close/>
                </a:path>
              </a:pathLst>
            </a:custGeom>
            <a:blipFill>
              <a:blip r:embed="rId4"/>
              <a:stretch>
                <a:fillRect l="0" t="-359" r="-65" b="-359"/>
              </a:stretch>
            </a:blip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5400000">
            <a:off x="7101840" y="-3132772"/>
            <a:ext cx="2346007" cy="14561820"/>
            <a:chOff x="0" y="0"/>
            <a:chExt cx="3128010" cy="19415760"/>
          </a:xfrm>
        </p:grpSpPr>
        <p:sp>
          <p:nvSpPr>
            <p:cNvPr name="Freeform 26" id="26" descr="https://kimi-img.moonshot.cn/pub/slides/slides_tmpl/image/25-09-02-14:58:52-d2r9bb1e3tpg8rchv3ag.png"/>
            <p:cNvSpPr/>
            <p:nvPr/>
          </p:nvSpPr>
          <p:spPr>
            <a:xfrm flipH="false" flipV="false" rot="0">
              <a:off x="0" y="0"/>
              <a:ext cx="3128010" cy="19415761"/>
            </a:xfrm>
            <a:custGeom>
              <a:avLst/>
              <a:gdLst/>
              <a:ahLst/>
              <a:cxnLst/>
              <a:rect r="r" b="b" t="t" l="l"/>
              <a:pathLst>
                <a:path h="19415761" w="3128010">
                  <a:moveTo>
                    <a:pt x="0" y="0"/>
                  </a:moveTo>
                  <a:lnTo>
                    <a:pt x="3128010" y="0"/>
                  </a:lnTo>
                  <a:lnTo>
                    <a:pt x="3128010" y="19415761"/>
                  </a:lnTo>
                  <a:lnTo>
                    <a:pt x="0" y="19415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2228" t="0" r="-172228" b="0"/>
              </a:stretch>
            </a:blip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5400000">
            <a:off x="7101840" y="-284798"/>
            <a:ext cx="2346008" cy="14561820"/>
            <a:chOff x="0" y="0"/>
            <a:chExt cx="3128010" cy="19415760"/>
          </a:xfrm>
        </p:grpSpPr>
        <p:sp>
          <p:nvSpPr>
            <p:cNvPr name="Freeform 28" id="28" descr="https://kimi-img.moonshot.cn/pub/slides/slides_tmpl/image/25-09-02-14:58:52-d2r9bb1e3tpg8rchv3ag.png"/>
            <p:cNvSpPr/>
            <p:nvPr/>
          </p:nvSpPr>
          <p:spPr>
            <a:xfrm flipH="false" flipV="false" rot="0">
              <a:off x="0" y="0"/>
              <a:ext cx="3128010" cy="19415761"/>
            </a:xfrm>
            <a:custGeom>
              <a:avLst/>
              <a:gdLst/>
              <a:ahLst/>
              <a:cxnLst/>
              <a:rect r="r" b="b" t="t" l="l"/>
              <a:pathLst>
                <a:path h="19415761" w="3128010">
                  <a:moveTo>
                    <a:pt x="0" y="0"/>
                  </a:moveTo>
                  <a:lnTo>
                    <a:pt x="3128010" y="0"/>
                  </a:lnTo>
                  <a:lnTo>
                    <a:pt x="3128010" y="19415761"/>
                  </a:lnTo>
                  <a:lnTo>
                    <a:pt x="0" y="19415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2228" t="0" r="-172228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32560" y="3132772"/>
            <a:ext cx="1213008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Open-Source and Sustainable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5885" y="3534728"/>
            <a:ext cx="13857923" cy="99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Ryno Crypto is committed to open-source principles and sustainability. Our solutions prioritize energy efficiency, heat recovery, and renewable energy integration, ensuring responsible mining practices.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32560" y="5980747"/>
            <a:ext cx="1213008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AI-Native Operations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5885" y="6382702"/>
            <a:ext cx="13857923" cy="9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Our AI-powered autonomous management handles 95% of operational decisions, freeing your team to focus on strategic growth initiatives. This technology ensures maximum efficiency and profitability.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4767" y="-19050"/>
            <a:ext cx="18292767" cy="10299622"/>
            <a:chOff x="0" y="0"/>
            <a:chExt cx="24390356" cy="13732830"/>
          </a:xfrm>
        </p:grpSpPr>
        <p:sp>
          <p:nvSpPr>
            <p:cNvPr name="Freeform 3" id="3" descr="https://kimi-img.moonshot.cn/pub/slides/slides_tmpl/image/25-09-02-14:58:51-d2r9bape3tpg8rchv360.jpg"/>
            <p:cNvSpPr/>
            <p:nvPr/>
          </p:nvSpPr>
          <p:spPr>
            <a:xfrm flipH="false" flipV="false" rot="0">
              <a:off x="0" y="0"/>
              <a:ext cx="243903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390350">
                  <a:moveTo>
                    <a:pt x="0" y="0"/>
                  </a:moveTo>
                  <a:lnTo>
                    <a:pt x="24390350" y="0"/>
                  </a:lnTo>
                  <a:lnTo>
                    <a:pt x="24390350" y="13732890"/>
                  </a:lnTo>
                  <a:lnTo>
                    <a:pt x="0" y="13732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" r="-30" b="-15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5400000">
            <a:off x="8062913" y="-4509135"/>
            <a:ext cx="1957388" cy="16093440"/>
            <a:chOff x="0" y="0"/>
            <a:chExt cx="2609850" cy="21457920"/>
          </a:xfrm>
        </p:grpSpPr>
        <p:sp>
          <p:nvSpPr>
            <p:cNvPr name="Freeform 5" id="5" descr="https://kimi-img.moonshot.cn/pub/slides/slides_tmpl/image/25-09-02-14:58:52-d2r9bb1e3tpg8rchv3ag.png"/>
            <p:cNvSpPr/>
            <p:nvPr/>
          </p:nvSpPr>
          <p:spPr>
            <a:xfrm flipH="false" flipV="false" rot="0">
              <a:off x="0" y="0"/>
              <a:ext cx="2609850" cy="21457920"/>
            </a:xfrm>
            <a:custGeom>
              <a:avLst/>
              <a:gdLst/>
              <a:ahLst/>
              <a:cxnLst/>
              <a:rect r="r" b="b" t="t" l="l"/>
              <a:pathLst>
                <a:path h="21457920" w="2609850">
                  <a:moveTo>
                    <a:pt x="0" y="0"/>
                  </a:moveTo>
                  <a:lnTo>
                    <a:pt x="2609850" y="0"/>
                  </a:lnTo>
                  <a:lnTo>
                    <a:pt x="2609850" y="21457920"/>
                  </a:lnTo>
                  <a:lnTo>
                    <a:pt x="0" y="214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4364" t="0" r="-24436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972264" y="1453722"/>
            <a:ext cx="116696" cy="108000"/>
            <a:chOff x="0" y="0"/>
            <a:chExt cx="155594" cy="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780002" y="1453722"/>
            <a:ext cx="116696" cy="108000"/>
            <a:chOff x="0" y="0"/>
            <a:chExt cx="155594" cy="14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583481" y="1453722"/>
            <a:ext cx="116696" cy="108000"/>
            <a:chOff x="0" y="0"/>
            <a:chExt cx="155594" cy="14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386960" y="1453722"/>
            <a:ext cx="116696" cy="108000"/>
            <a:chOff x="0" y="0"/>
            <a:chExt cx="155594" cy="14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04875" y="1123950"/>
            <a:ext cx="1470755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Next Step: Book Your Free Audit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5400000">
            <a:off x="8062912" y="-2112645"/>
            <a:ext cx="1957388" cy="16093440"/>
            <a:chOff x="0" y="0"/>
            <a:chExt cx="2609850" cy="21457920"/>
          </a:xfrm>
        </p:grpSpPr>
        <p:sp>
          <p:nvSpPr>
            <p:cNvPr name="Freeform 16" id="16" descr="https://kimi-img.moonshot.cn/pub/slides/slides_tmpl/image/25-09-02-14:58:52-d2r9bb1e3tpg8rchv3ag.png"/>
            <p:cNvSpPr/>
            <p:nvPr/>
          </p:nvSpPr>
          <p:spPr>
            <a:xfrm flipH="false" flipV="false" rot="0">
              <a:off x="0" y="0"/>
              <a:ext cx="2609850" cy="21457920"/>
            </a:xfrm>
            <a:custGeom>
              <a:avLst/>
              <a:gdLst/>
              <a:ahLst/>
              <a:cxnLst/>
              <a:rect r="r" b="b" t="t" l="l"/>
              <a:pathLst>
                <a:path h="21457920" w="2609850">
                  <a:moveTo>
                    <a:pt x="0" y="0"/>
                  </a:moveTo>
                  <a:lnTo>
                    <a:pt x="2609850" y="0"/>
                  </a:lnTo>
                  <a:lnTo>
                    <a:pt x="2609850" y="21457920"/>
                  </a:lnTo>
                  <a:lnTo>
                    <a:pt x="0" y="214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4364" t="0" r="-244364" b="0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5400000">
            <a:off x="8062912" y="347662"/>
            <a:ext cx="1957388" cy="16093440"/>
            <a:chOff x="0" y="0"/>
            <a:chExt cx="2609850" cy="21457920"/>
          </a:xfrm>
        </p:grpSpPr>
        <p:sp>
          <p:nvSpPr>
            <p:cNvPr name="Freeform 18" id="18" descr="https://kimi-img.moonshot.cn/pub/slides/slides_tmpl/image/25-09-02-14:58:52-d2r9bb1e3tpg8rchv3ag.png"/>
            <p:cNvSpPr/>
            <p:nvPr/>
          </p:nvSpPr>
          <p:spPr>
            <a:xfrm flipH="false" flipV="false" rot="0">
              <a:off x="0" y="0"/>
              <a:ext cx="2609850" cy="21457920"/>
            </a:xfrm>
            <a:custGeom>
              <a:avLst/>
              <a:gdLst/>
              <a:ahLst/>
              <a:cxnLst/>
              <a:rect r="r" b="b" t="t" l="l"/>
              <a:pathLst>
                <a:path h="21457920" w="2609850">
                  <a:moveTo>
                    <a:pt x="0" y="0"/>
                  </a:moveTo>
                  <a:lnTo>
                    <a:pt x="2609850" y="0"/>
                  </a:lnTo>
                  <a:lnTo>
                    <a:pt x="2609850" y="21457920"/>
                  </a:lnTo>
                  <a:lnTo>
                    <a:pt x="0" y="2145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4364" t="0" r="-244364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40155" y="3128962"/>
            <a:ext cx="3843338" cy="89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Complimentary Assessment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73980" y="2668905"/>
            <a:ext cx="11513820" cy="166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Schedule a complimentary on-site or virtual assessment to receive detailed ROI projections within a week. This zero-risk entry ensures you are making an informed decision.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0155" y="5525453"/>
            <a:ext cx="384333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Lock in 2026 Deployment Slots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73980" y="5065395"/>
            <a:ext cx="11513820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Secure your spot for 2026 deployments to capitalize on the upcoming bull cycle. Retrofitting now maximizes your potential for profit during the next market upswing.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0155" y="7985760"/>
            <a:ext cx="3843338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Contact Information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3980" y="7525702"/>
            <a:ext cx="11513820" cy="166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Contact us at info@rynocrypto.com or visit rynocrypto.com to schedule your assessment and take the first step towards transforming your mining operation.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5139"/>
            <a:ext cx="18287998" cy="10296939"/>
            <a:chOff x="0" y="0"/>
            <a:chExt cx="24383998" cy="13729252"/>
          </a:xfrm>
        </p:grpSpPr>
        <p:sp>
          <p:nvSpPr>
            <p:cNvPr name="Freeform 3" id="3" descr="https://kimi-img.moonshot.cn/pub/slides/slides_tmpl/image/25-09-02-14:58:48-d2r9ba1e3tpg8rchv35g.jpg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782" t="-59307" r="-44767" b="-1566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677478" y="5558790"/>
            <a:ext cx="13954125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Q&amp;A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60056" y="9396582"/>
            <a:ext cx="19050" cy="207975"/>
            <a:chOff x="0" y="0"/>
            <a:chExt cx="25400" cy="277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92058" y="9396582"/>
            <a:ext cx="19050" cy="207975"/>
            <a:chOff x="0" y="0"/>
            <a:chExt cx="25400" cy="277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24058" y="9240009"/>
            <a:ext cx="19050" cy="349671"/>
            <a:chOff x="0" y="0"/>
            <a:chExt cx="25400" cy="4662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2700"/>
              <a:ext cx="25400" cy="440817"/>
            </a:xfrm>
            <a:custGeom>
              <a:avLst/>
              <a:gdLst/>
              <a:ahLst/>
              <a:cxnLst/>
              <a:rect r="r" b="b" t="t" l="l"/>
              <a:pathLst>
                <a:path h="440817" w="25400">
                  <a:moveTo>
                    <a:pt x="25400" y="0"/>
                  </a:moveTo>
                  <a:lnTo>
                    <a:pt x="25400" y="440817"/>
                  </a:lnTo>
                  <a:lnTo>
                    <a:pt x="0" y="4408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556059" y="9396582"/>
            <a:ext cx="19050" cy="207975"/>
            <a:chOff x="0" y="0"/>
            <a:chExt cx="25400" cy="277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688060" y="9396582"/>
            <a:ext cx="19050" cy="207975"/>
            <a:chOff x="0" y="0"/>
            <a:chExt cx="25400" cy="277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7651910" y="1761173"/>
            <a:ext cx="3426142" cy="381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24"/>
              </a:lnSpc>
            </a:pPr>
            <a:r>
              <a:rPr lang="en-US" sz="20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06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441746" y="0"/>
            <a:ext cx="9405460" cy="6270308"/>
            <a:chOff x="0" y="0"/>
            <a:chExt cx="12540614" cy="8360410"/>
          </a:xfrm>
        </p:grpSpPr>
        <p:sp>
          <p:nvSpPr>
            <p:cNvPr name="Freeform 3" id="3" descr="https://kimi-img.moonshot.cn/pub/slides/25-11-30-08:15:33-d4lop9atuj35cppmgdo0.png"/>
            <p:cNvSpPr/>
            <p:nvPr/>
          </p:nvSpPr>
          <p:spPr>
            <a:xfrm flipH="false" flipV="false" rot="0">
              <a:off x="0" y="0"/>
              <a:ext cx="12540615" cy="8360410"/>
            </a:xfrm>
            <a:custGeom>
              <a:avLst/>
              <a:gdLst/>
              <a:ahLst/>
              <a:cxnLst/>
              <a:rect r="r" b="b" t="t" l="l"/>
              <a:pathLst>
                <a:path h="8360410" w="12540615">
                  <a:moveTo>
                    <a:pt x="0" y="0"/>
                  </a:moveTo>
                  <a:lnTo>
                    <a:pt x="12540615" y="0"/>
                  </a:lnTo>
                  <a:lnTo>
                    <a:pt x="12540615" y="8360410"/>
                  </a:lnTo>
                  <a:lnTo>
                    <a:pt x="0" y="8360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" y="5139"/>
            <a:ext cx="18287998" cy="10296939"/>
            <a:chOff x="0" y="0"/>
            <a:chExt cx="24383998" cy="13729252"/>
          </a:xfrm>
        </p:grpSpPr>
        <p:sp>
          <p:nvSpPr>
            <p:cNvPr name="Freeform 5" id="5" descr="https://kimi-img.moonshot.cn/pub/slides/slides_tmpl/image/25-09-02-14:58:45-d2r9b99e3tpg8rchv2v0.jpg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" r="-30" b="-16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" y="4761"/>
            <a:ext cx="18287998" cy="6265548"/>
            <a:chOff x="0" y="0"/>
            <a:chExt cx="24383998" cy="8354064"/>
          </a:xfrm>
        </p:grpSpPr>
        <p:sp>
          <p:nvSpPr>
            <p:cNvPr name="Freeform 7" id="7" descr="https://kimi-img.moonshot.cn/pub/slides/25-11-30-08:16:29-d4lopnc432e2a2l5dpag.png"/>
            <p:cNvSpPr/>
            <p:nvPr/>
          </p:nvSpPr>
          <p:spPr>
            <a:xfrm flipH="false" flipV="false" rot="0">
              <a:off x="0" y="0"/>
              <a:ext cx="24384000" cy="8354060"/>
            </a:xfrm>
            <a:custGeom>
              <a:avLst/>
              <a:gdLst/>
              <a:ahLst/>
              <a:cxnLst/>
              <a:rect r="r" b="b" t="t" l="l"/>
              <a:pathLst>
                <a:path h="83540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354060"/>
                  </a:lnTo>
                  <a:lnTo>
                    <a:pt x="0" y="8354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7293" r="0" b="-4729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76981" y="1009005"/>
            <a:ext cx="116696" cy="108000"/>
            <a:chOff x="0" y="0"/>
            <a:chExt cx="155594" cy="14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979974" y="1010624"/>
            <a:ext cx="116696" cy="108000"/>
            <a:chOff x="0" y="0"/>
            <a:chExt cx="155594" cy="14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788198" y="1009005"/>
            <a:ext cx="116696" cy="108000"/>
            <a:chOff x="0" y="0"/>
            <a:chExt cx="155594" cy="14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6591677" y="1009005"/>
            <a:ext cx="116696" cy="108000"/>
            <a:chOff x="0" y="0"/>
            <a:chExt cx="155594" cy="14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702" cy="144018"/>
            </a:xfrm>
            <a:custGeom>
              <a:avLst/>
              <a:gdLst/>
              <a:ahLst/>
              <a:cxnLst/>
              <a:rect r="r" b="b" t="t" l="l"/>
              <a:pathLst>
                <a:path h="144018" w="155702">
                  <a:moveTo>
                    <a:pt x="155575" y="72009"/>
                  </a:moveTo>
                  <a:cubicBezTo>
                    <a:pt x="155575" y="32258"/>
                    <a:pt x="120777" y="0"/>
                    <a:pt x="77851" y="0"/>
                  </a:cubicBezTo>
                  <a:cubicBezTo>
                    <a:pt x="34925" y="0"/>
                    <a:pt x="0" y="32258"/>
                    <a:pt x="0" y="72009"/>
                  </a:cubicBezTo>
                  <a:cubicBezTo>
                    <a:pt x="0" y="111760"/>
                    <a:pt x="34798" y="144018"/>
                    <a:pt x="77851" y="144018"/>
                  </a:cubicBezTo>
                  <a:cubicBezTo>
                    <a:pt x="120904" y="144018"/>
                    <a:pt x="155702" y="111760"/>
                    <a:pt x="155702" y="72009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69670" y="980430"/>
            <a:ext cx="1512665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Open Floor: Ask the Retrofit Team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141095" y="3475672"/>
            <a:ext cx="28575" cy="5086350"/>
            <a:chOff x="0" y="0"/>
            <a:chExt cx="38100" cy="6781800"/>
          </a:xfrm>
        </p:grpSpPr>
        <p:sp>
          <p:nvSpPr>
            <p:cNvPr name="Freeform 18" id="18" descr="https://kimi-img.moonshot.cn/pub/slides/slides_tmpl/image/25-09-02-14:58:42-d2r9b8he3tpg8rchv2qg.jpg"/>
            <p:cNvSpPr/>
            <p:nvPr/>
          </p:nvSpPr>
          <p:spPr>
            <a:xfrm flipH="false" flipV="false" rot="0">
              <a:off x="0" y="0"/>
              <a:ext cx="38100" cy="6781800"/>
            </a:xfrm>
            <a:custGeom>
              <a:avLst/>
              <a:gdLst/>
              <a:ahLst/>
              <a:cxnLst/>
              <a:rect r="r" b="b" t="t" l="l"/>
              <a:pathLst>
                <a:path h="6781800" w="38100">
                  <a:moveTo>
                    <a:pt x="0" y="0"/>
                  </a:moveTo>
                  <a:lnTo>
                    <a:pt x="38100" y="0"/>
                  </a:lnTo>
                  <a:lnTo>
                    <a:pt x="38100" y="6781800"/>
                  </a:lnTo>
                  <a:lnTo>
                    <a:pt x="0" y="678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4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922318" y="7284720"/>
            <a:ext cx="659034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 b="true">
                <a:solidFill>
                  <a:srgbClr val="FBE199"/>
                </a:solidFill>
                <a:latin typeface="Arimo Bold"/>
                <a:ea typeface="Arimo Bold"/>
                <a:cs typeface="Arimo Bold"/>
                <a:sym typeface="Arimo Bold"/>
              </a:rPr>
              <a:t>Q&amp;A Session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73592" y="7686675"/>
            <a:ext cx="15436215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80"/>
              </a:lnSpc>
            </a:pPr>
            <a:r>
              <a:rPr lang="en-US" sz="21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We invite you to ask any technical, financial, or logistical questions. Our team is here to provide transparency, open-source firmware access, and SLA guarantees. Ensure you leave with a clear understanding of the retrofit benefits.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7998" cy="10296939"/>
            <a:chOff x="0" y="0"/>
            <a:chExt cx="24383998" cy="13729252"/>
          </a:xfrm>
        </p:grpSpPr>
        <p:sp>
          <p:nvSpPr>
            <p:cNvPr name="Freeform 3" id="3" descr="https://kimi-img.moonshot.cn/pub/slides/slides_tmpl/image/25-09-02-14:58:54-d2r9bbhe3tpg8rchv3d0.jpg"/>
            <p:cNvSpPr/>
            <p:nvPr/>
          </p:nvSpPr>
          <p:spPr>
            <a:xfrm flipH="false" flipV="false" rot="0">
              <a:off x="0" y="0"/>
              <a:ext cx="24384000" cy="13729208"/>
            </a:xfrm>
            <a:custGeom>
              <a:avLst/>
              <a:gdLst/>
              <a:ahLst/>
              <a:cxnLst/>
              <a:rect r="r" b="b" t="t" l="l"/>
              <a:pathLst>
                <a:path h="137292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9208"/>
                  </a:lnTo>
                  <a:lnTo>
                    <a:pt x="0" y="13729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" t="0" r="-31805" b="-3167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60056" y="9396582"/>
            <a:ext cx="19050" cy="207975"/>
            <a:chOff x="0" y="0"/>
            <a:chExt cx="25400" cy="277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92058" y="9396582"/>
            <a:ext cx="19050" cy="207975"/>
            <a:chOff x="0" y="0"/>
            <a:chExt cx="25400" cy="277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24058" y="9240009"/>
            <a:ext cx="19050" cy="349671"/>
            <a:chOff x="0" y="0"/>
            <a:chExt cx="25400" cy="4662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2700"/>
              <a:ext cx="25400" cy="440817"/>
            </a:xfrm>
            <a:custGeom>
              <a:avLst/>
              <a:gdLst/>
              <a:ahLst/>
              <a:cxnLst/>
              <a:rect r="r" b="b" t="t" l="l"/>
              <a:pathLst>
                <a:path h="440817" w="25400">
                  <a:moveTo>
                    <a:pt x="25400" y="0"/>
                  </a:moveTo>
                  <a:lnTo>
                    <a:pt x="25400" y="440817"/>
                  </a:lnTo>
                  <a:lnTo>
                    <a:pt x="0" y="4408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556059" y="9396582"/>
            <a:ext cx="19050" cy="207975"/>
            <a:chOff x="0" y="0"/>
            <a:chExt cx="25400" cy="277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88060" y="9396582"/>
            <a:ext cx="19050" cy="207975"/>
            <a:chOff x="0" y="0"/>
            <a:chExt cx="25400" cy="2773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2700"/>
              <a:ext cx="25400" cy="251841"/>
            </a:xfrm>
            <a:custGeom>
              <a:avLst/>
              <a:gdLst/>
              <a:ahLst/>
              <a:cxnLst/>
              <a:rect r="r" b="b" t="t" l="l"/>
              <a:pathLst>
                <a:path h="251841" w="25400">
                  <a:moveTo>
                    <a:pt x="25400" y="0"/>
                  </a:moveTo>
                  <a:lnTo>
                    <a:pt x="25400" y="251841"/>
                  </a:lnTo>
                  <a:lnTo>
                    <a:pt x="0" y="25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6195248" y="9594669"/>
            <a:ext cx="175266" cy="175266"/>
            <a:chOff x="0" y="0"/>
            <a:chExt cx="233688" cy="2336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680" cy="233680"/>
            </a:xfrm>
            <a:custGeom>
              <a:avLst/>
              <a:gdLst/>
              <a:ahLst/>
              <a:cxnLst/>
              <a:rect r="r" b="b" t="t" l="l"/>
              <a:pathLst>
                <a:path h="233680" w="233680">
                  <a:moveTo>
                    <a:pt x="0" y="116840"/>
                  </a:moveTo>
                  <a:cubicBezTo>
                    <a:pt x="0" y="52324"/>
                    <a:pt x="52324" y="0"/>
                    <a:pt x="116840" y="0"/>
                  </a:cubicBezTo>
                  <a:cubicBezTo>
                    <a:pt x="181356" y="0"/>
                    <a:pt x="233680" y="52324"/>
                    <a:pt x="233680" y="116840"/>
                  </a:cubicBezTo>
                  <a:cubicBezTo>
                    <a:pt x="233680" y="181356"/>
                    <a:pt x="181356" y="233680"/>
                    <a:pt x="116840" y="233680"/>
                  </a:cubicBezTo>
                  <a:cubicBezTo>
                    <a:pt x="52324" y="233680"/>
                    <a:pt x="0" y="181356"/>
                    <a:pt x="0" y="11684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484006" y="9594669"/>
            <a:ext cx="175266" cy="175266"/>
            <a:chOff x="0" y="0"/>
            <a:chExt cx="233688" cy="2336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3680" cy="233680"/>
            </a:xfrm>
            <a:custGeom>
              <a:avLst/>
              <a:gdLst/>
              <a:ahLst/>
              <a:cxnLst/>
              <a:rect r="r" b="b" t="t" l="l"/>
              <a:pathLst>
                <a:path h="233680" w="233680">
                  <a:moveTo>
                    <a:pt x="0" y="116840"/>
                  </a:moveTo>
                  <a:cubicBezTo>
                    <a:pt x="0" y="52324"/>
                    <a:pt x="52324" y="0"/>
                    <a:pt x="116840" y="0"/>
                  </a:cubicBezTo>
                  <a:cubicBezTo>
                    <a:pt x="181356" y="0"/>
                    <a:pt x="233680" y="52324"/>
                    <a:pt x="233680" y="116840"/>
                  </a:cubicBezTo>
                  <a:cubicBezTo>
                    <a:pt x="233680" y="181356"/>
                    <a:pt x="181356" y="233680"/>
                    <a:pt x="116840" y="233680"/>
                  </a:cubicBezTo>
                  <a:cubicBezTo>
                    <a:pt x="52324" y="233680"/>
                    <a:pt x="0" y="181356"/>
                    <a:pt x="0" y="116840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6779160" y="9594669"/>
            <a:ext cx="175266" cy="175266"/>
            <a:chOff x="0" y="0"/>
            <a:chExt cx="233688" cy="2336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3680" cy="233680"/>
            </a:xfrm>
            <a:custGeom>
              <a:avLst/>
              <a:gdLst/>
              <a:ahLst/>
              <a:cxnLst/>
              <a:rect r="r" b="b" t="t" l="l"/>
              <a:pathLst>
                <a:path h="233680" w="233680">
                  <a:moveTo>
                    <a:pt x="0" y="116840"/>
                  </a:moveTo>
                  <a:cubicBezTo>
                    <a:pt x="0" y="52324"/>
                    <a:pt x="52324" y="0"/>
                    <a:pt x="116840" y="0"/>
                  </a:cubicBezTo>
                  <a:cubicBezTo>
                    <a:pt x="181356" y="0"/>
                    <a:pt x="233680" y="52324"/>
                    <a:pt x="233680" y="116840"/>
                  </a:cubicBezTo>
                  <a:cubicBezTo>
                    <a:pt x="233680" y="181356"/>
                    <a:pt x="181356" y="233680"/>
                    <a:pt x="116840" y="233680"/>
                  </a:cubicBezTo>
                  <a:cubicBezTo>
                    <a:pt x="52324" y="233680"/>
                    <a:pt x="0" y="181356"/>
                    <a:pt x="0" y="11684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7074316" y="9594669"/>
            <a:ext cx="175266" cy="175266"/>
            <a:chOff x="0" y="0"/>
            <a:chExt cx="233688" cy="2336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3680" cy="233680"/>
            </a:xfrm>
            <a:custGeom>
              <a:avLst/>
              <a:gdLst/>
              <a:ahLst/>
              <a:cxnLst/>
              <a:rect r="r" b="b" t="t" l="l"/>
              <a:pathLst>
                <a:path h="233680" w="233680">
                  <a:moveTo>
                    <a:pt x="0" y="116840"/>
                  </a:moveTo>
                  <a:cubicBezTo>
                    <a:pt x="0" y="52324"/>
                    <a:pt x="52324" y="0"/>
                    <a:pt x="116840" y="0"/>
                  </a:cubicBezTo>
                  <a:cubicBezTo>
                    <a:pt x="181356" y="0"/>
                    <a:pt x="233680" y="52324"/>
                    <a:pt x="233680" y="116840"/>
                  </a:cubicBezTo>
                  <a:cubicBezTo>
                    <a:pt x="233680" y="181356"/>
                    <a:pt x="181356" y="233680"/>
                    <a:pt x="116840" y="233680"/>
                  </a:cubicBezTo>
                  <a:cubicBezTo>
                    <a:pt x="52324" y="233680"/>
                    <a:pt x="0" y="181356"/>
                    <a:pt x="0" y="116840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3139916" y="1773992"/>
            <a:ext cx="12008168" cy="251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52"/>
              </a:lnSpc>
            </a:pPr>
            <a:r>
              <a:rPr lang="en-US" sz="14400" b="true">
                <a:solidFill>
                  <a:srgbClr val="F8D089"/>
                </a:solidFill>
                <a:latin typeface="Arimo Bold"/>
                <a:ea typeface="Arimo Bold"/>
                <a:cs typeface="Arimo Bold"/>
                <a:sym typeface="Arimo Bold"/>
              </a:rPr>
              <a:t>Thank you.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662054" y="8832669"/>
            <a:ext cx="1994436" cy="762000"/>
            <a:chOff x="0" y="0"/>
            <a:chExt cx="2659248" cy="101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59248" cy="1016000"/>
            </a:xfrm>
            <a:custGeom>
              <a:avLst/>
              <a:gdLst/>
              <a:ahLst/>
              <a:cxnLst/>
              <a:rect r="r" b="b" t="t" l="l"/>
              <a:pathLst>
                <a:path h="1016000" w="2659248">
                  <a:moveTo>
                    <a:pt x="0" y="0"/>
                  </a:moveTo>
                  <a:lnTo>
                    <a:pt x="2659248" y="0"/>
                  </a:lnTo>
                  <a:lnTo>
                    <a:pt x="2659248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2659248" cy="102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2025/08/05</a:t>
              </a:r>
            </a:p>
          </p:txBody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6163682" y="4336305"/>
            <a:ext cx="5960634" cy="5960634"/>
            <a:chOff x="0" y="0"/>
            <a:chExt cx="7947512" cy="7947512"/>
          </a:xfrm>
        </p:grpSpPr>
        <p:sp>
          <p:nvSpPr>
            <p:cNvPr name="Freeform 27" id="27" descr="https://kimi-img.moonshot.cn/pub/slides/25-11-30-08:21:33-d4los3d7vds4jngtaqb0.png"/>
            <p:cNvSpPr/>
            <p:nvPr/>
          </p:nvSpPr>
          <p:spPr>
            <a:xfrm flipH="false" flipV="false" rot="0">
              <a:off x="0" y="0"/>
              <a:ext cx="7947533" cy="7947533"/>
            </a:xfrm>
            <a:custGeom>
              <a:avLst/>
              <a:gdLst/>
              <a:ahLst/>
              <a:cxnLst/>
              <a:rect r="r" b="b" t="t" l="l"/>
              <a:pathLst>
                <a:path h="7947533" w="7947533">
                  <a:moveTo>
                    <a:pt x="0" y="0"/>
                  </a:moveTo>
                  <a:lnTo>
                    <a:pt x="7947533" y="0"/>
                  </a:lnTo>
                  <a:lnTo>
                    <a:pt x="7947533" y="7947533"/>
                  </a:lnTo>
                  <a:lnTo>
                    <a:pt x="0" y="79475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DAG6JU1O4Ek</dc:identifier>
  <dcterms:modified xsi:type="dcterms:W3CDTF">2011-08-01T06:04:30Z</dcterms:modified>
  <cp:revision>1</cp:revision>
  <dc:title>TerraHash Retrofit_ Mine Smarter-gold.pptx</dc:title>
</cp:coreProperties>
</file>